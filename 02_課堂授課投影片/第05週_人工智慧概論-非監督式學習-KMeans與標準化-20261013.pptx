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8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4" r:id="rId16"/>
    <p:sldId id="302" r:id="rId17"/>
    <p:sldId id="303" r:id="rId18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1" autoAdjust="0"/>
    <p:restoredTop sz="81674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540" y="16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0364D4E-7422-40C5-B104-A8045DE1D334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2026/10/13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0AC623C-86E0-4A85-83FB-F4A716956FD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08CA673-C202-4825-8824-38BE53AF95B4}" type="datetime1">
              <a:rPr lang="zh-TW" altLang="en-US" noProof="0" smtClean="0"/>
              <a:t>2026/10/13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37D7554-D10C-4E29-B8E6-BB7111FA614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37D7554-D10C-4E29-B8E6-BB7111FA614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3086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職稱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65C9C5B-BBA9-42AB-806E-92FC22E19CBA}"/>
              </a:ext>
            </a:extLst>
          </p:cNvPr>
          <p:cNvSpPr/>
          <p:nvPr userDrawn="1"/>
        </p:nvSpPr>
        <p:spPr>
          <a:xfrm>
            <a:off x="-1" y="0"/>
            <a:ext cx="903746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AF30CF48-DD5D-4C81-BA7E-470DCBA61E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76500" y="622103"/>
            <a:ext cx="9715500" cy="3720928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cxnSp>
        <p:nvCxnSpPr>
          <p:cNvPr id="15" name="直線接點​​(S) 14">
            <a:extLst>
              <a:ext uri="{FF2B5EF4-FFF2-40B4-BE49-F238E27FC236}">
                <a16:creationId xmlns:a16="http://schemas.microsoft.com/office/drawing/2014/main" id="{E7E08E4E-686B-490D-8EA1-DDC9F1BC7C24}"/>
              </a:ext>
            </a:extLst>
          </p:cNvPr>
          <p:cNvCxnSpPr>
            <a:cxnSpLocks/>
          </p:cNvCxnSpPr>
          <p:nvPr userDrawn="1"/>
        </p:nvCxnSpPr>
        <p:spPr>
          <a:xfrm>
            <a:off x="739466" y="0"/>
            <a:ext cx="0" cy="618773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版面配置區 12">
            <a:extLst>
              <a:ext uri="{FF2B5EF4-FFF2-40B4-BE49-F238E27FC236}">
                <a16:creationId xmlns:a16="http://schemas.microsoft.com/office/drawing/2014/main" id="{C78B2B3F-3573-4632-872A-ADB36AF412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9337" y="5779363"/>
            <a:ext cx="2459114" cy="685430"/>
          </a:xfrm>
          <a:prstGeom prst="rect">
            <a:avLst/>
          </a:prstGeom>
        </p:spPr>
        <p:txBody>
          <a:bodyPr rtlCol="0" anchor="ctr"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1800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12" name="文字版面配置區 12">
            <a:extLst>
              <a:ext uri="{FF2B5EF4-FFF2-40B4-BE49-F238E27FC236}">
                <a16:creationId xmlns:a16="http://schemas.microsoft.com/office/drawing/2014/main" id="{6FF5EE2F-D68A-4C3C-A342-4C0CE6CE20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99663" y="5791178"/>
            <a:ext cx="2459114" cy="685429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cap="all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按一下以新增日期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52DB723-8435-4F35-BF55-AFB7DC8F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205" y="4965134"/>
            <a:ext cx="4333088" cy="1596004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80000"/>
              </a:lnSpc>
              <a:defRPr sz="5000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按一下以新增標題</a:t>
            </a:r>
          </a:p>
        </p:txBody>
      </p:sp>
    </p:spTree>
    <p:extLst>
      <p:ext uri="{BB962C8B-B14F-4D97-AF65-F5344CB8AC3E}">
        <p14:creationId xmlns:p14="http://schemas.microsoft.com/office/powerpoint/2010/main" val="216758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圖片版面配置區 9">
            <a:extLst>
              <a:ext uri="{FF2B5EF4-FFF2-40B4-BE49-F238E27FC236}">
                <a16:creationId xmlns:a16="http://schemas.microsoft.com/office/drawing/2014/main" id="{FF5ED5F1-A62B-4555-807E-91FAE1443C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9D60F5-07EA-4D8F-AAFA-0F48CB78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ED4C42-D293-4981-BA06-A4638BE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3E9D98-F221-47DC-AE55-8165BB7A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94C3D64C-77F6-4601-B573-9A9B6E23BB6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675242" y="2051170"/>
            <a:ext cx="5362575" cy="3532188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BCD17CD-E6D2-4329-B271-1E59AA98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8368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認識簡報者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10">
            <a:extLst>
              <a:ext uri="{FF2B5EF4-FFF2-40B4-BE49-F238E27FC236}">
                <a16:creationId xmlns:a16="http://schemas.microsoft.com/office/drawing/2014/main" id="{CD5AE0D9-6B20-4F29-A35B-2A00C25FF8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82906" y="0"/>
            <a:ext cx="4635426" cy="685799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CC56C8-D828-4A31-A5B9-CF1AEFA7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71846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accent5">
                    <a:lumMod val="20000"/>
                    <a:lumOff val="8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0B0264-B3C3-46A0-80DD-67C59DB2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5D3C3B-0FFE-494C-B4AC-477B6A9D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0" name="文字版面配置區 12">
            <a:extLst>
              <a:ext uri="{FF2B5EF4-FFF2-40B4-BE49-F238E27FC236}">
                <a16:creationId xmlns:a16="http://schemas.microsoft.com/office/drawing/2014/main" id="{1285A10A-1880-4D4E-A99B-1C19043F2A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0189" y="1712545"/>
            <a:ext cx="3266975" cy="326687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b="1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按一下以新增姓名</a:t>
            </a:r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624F1FC7-2617-499A-8CB8-B61FC7D9B7B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9508" y="2756830"/>
            <a:ext cx="4834569" cy="238419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13" name="直線接點​​(S) 12">
            <a:extLst>
              <a:ext uri="{FF2B5EF4-FFF2-40B4-BE49-F238E27FC236}">
                <a16:creationId xmlns:a16="http://schemas.microsoft.com/office/drawing/2014/main" id="{0B169A36-7DEF-42D4-850F-59A3233F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834" y="0"/>
            <a:ext cx="0" cy="275748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​​(S) 13">
            <a:extLst>
              <a:ext uri="{FF2B5EF4-FFF2-40B4-BE49-F238E27FC236}">
                <a16:creationId xmlns:a16="http://schemas.microsoft.com/office/drawing/2014/main" id="{6CADB6D5-97B3-42ED-B8C7-5AD951CB8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34009" y="1867658"/>
            <a:ext cx="445799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A9B7B60A-1B6C-4E40-94D7-AE1BD371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10973" y="4189152"/>
            <a:ext cx="3121302" cy="469478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3485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EBFE3E-14BB-4DC6-A806-1E62C1D2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137" y="1360309"/>
            <a:ext cx="2909309" cy="657882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8" name="圖片版面配置區 10">
            <a:extLst>
              <a:ext uri="{FF2B5EF4-FFF2-40B4-BE49-F238E27FC236}">
                <a16:creationId xmlns:a16="http://schemas.microsoft.com/office/drawing/2014/main" id="{EFD7EF65-6DE9-4029-B3A0-F08E11BC9E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795752"/>
            <a:ext cx="12192000" cy="40622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123B9F8E-DAD6-45B2-B55B-B070484318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1075509"/>
            <a:ext cx="5293260" cy="1408770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CF9177-0C51-4496-B5AE-7ED4F8F3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7A035F-C837-4CCA-BB19-CE656F05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E2F927-F23D-4ABB-BEC9-11C2CC69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95244728-2BE1-4CB4-A19E-903E75BD8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27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組問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B0109947-4B08-4C56-B65B-A6FDFEF47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510815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C387A38D-E82D-42F1-A188-30F49DD5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9785" y="0"/>
            <a:ext cx="0" cy="2514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圖片版面配置區 10">
            <a:extLst>
              <a:ext uri="{FF2B5EF4-FFF2-40B4-BE49-F238E27FC236}">
                <a16:creationId xmlns:a16="http://schemas.microsoft.com/office/drawing/2014/main" id="{1205ABD4-5AFD-4B99-8836-D12AA42FCC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2510" y="0"/>
            <a:ext cx="7609489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080A53F-EFDF-40A3-B9E3-58EB0D3F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14" name="內容版面配置區 15">
            <a:extLst>
              <a:ext uri="{FF2B5EF4-FFF2-40B4-BE49-F238E27FC236}">
                <a16:creationId xmlns:a16="http://schemas.microsoft.com/office/drawing/2014/main" id="{F547C10E-8A59-4B22-ADF0-994850F759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17111" y="2906895"/>
            <a:ext cx="4606159" cy="222129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5" name="頁尾版面配置區 4">
            <a:extLst>
              <a:ext uri="{FF2B5EF4-FFF2-40B4-BE49-F238E27FC236}">
                <a16:creationId xmlns:a16="http://schemas.microsoft.com/office/drawing/2014/main" id="{79DE00E7-8296-408A-905C-ECBA407C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6" name="投影片編號版面配置區 5">
            <a:extLst>
              <a:ext uri="{FF2B5EF4-FFF2-40B4-BE49-F238E27FC236}">
                <a16:creationId xmlns:a16="http://schemas.microsoft.com/office/drawing/2014/main" id="{900B3723-B30F-4BDB-A030-4B06ADE7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E4FA9AB-9D34-43A5-947E-835D7FE2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2" y="2225678"/>
            <a:ext cx="4607268" cy="469476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4452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圖片版面配置區 10">
            <a:extLst>
              <a:ext uri="{FF2B5EF4-FFF2-40B4-BE49-F238E27FC236}">
                <a16:creationId xmlns:a16="http://schemas.microsoft.com/office/drawing/2014/main" id="{840FD269-E069-45DA-B668-BE984BFA3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AB9DE71-7B7A-4473-ABD8-99575CAF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AA1C9B-284B-4C89-8743-52285AC9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BC1FE06-5B3A-40E2-82AA-E4516ED2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文字版面配置區 12">
            <a:extLst>
              <a:ext uri="{FF2B5EF4-FFF2-40B4-BE49-F238E27FC236}">
                <a16:creationId xmlns:a16="http://schemas.microsoft.com/office/drawing/2014/main" id="{2ACE5847-B709-473D-A366-54ADA852FF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5107" y="3055535"/>
            <a:ext cx="7981786" cy="2609103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3200" i="1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按一下以新增標題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48B1850-15F7-414E-B8F6-3A5B3D10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083" y="5448575"/>
            <a:ext cx="4881563" cy="463550"/>
          </a:xfrm>
          <a:prstGeom prst="rect">
            <a:avLst/>
          </a:prstGeom>
        </p:spPr>
        <p:txBody>
          <a:bodyPr rtlCol="0"/>
          <a:lstStyle>
            <a:lvl1pPr algn="r">
              <a:defRPr lang="en-US" sz="18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marL="0" lvl="0" indent="0" algn="r" rtl="0">
              <a:spcBef>
                <a:spcPts val="100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00056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假設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0796CDC-3154-4ACA-A920-8CBE431C2A1A}"/>
              </a:ext>
            </a:extLst>
          </p:cNvPr>
          <p:cNvSpPr/>
          <p:nvPr userDrawn="1"/>
        </p:nvSpPr>
        <p:spPr>
          <a:xfrm>
            <a:off x="0" y="0"/>
            <a:ext cx="468761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95FA8B4-F9F3-4FF5-B11F-483A1B95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97B8F04-28A5-462E-86DE-06C37E40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8B2DAE-4645-4AA0-87C9-39874FDB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6" name="內容版面配置區 15">
            <a:extLst>
              <a:ext uri="{FF2B5EF4-FFF2-40B4-BE49-F238E27FC236}">
                <a16:creationId xmlns:a16="http://schemas.microsoft.com/office/drawing/2014/main" id="{3BB9146A-68F5-433B-8411-A12C7C8F78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7641" y="1193612"/>
            <a:ext cx="3513083" cy="140050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按一下以新增文字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70974D-DE65-42B3-BEB4-235503245B26}"/>
              </a:ext>
            </a:extLst>
          </p:cNvPr>
          <p:cNvSpPr/>
          <p:nvPr userDrawn="1"/>
        </p:nvSpPr>
        <p:spPr>
          <a:xfrm>
            <a:off x="6360072" y="924801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8" name="內容版面配置區 15">
            <a:extLst>
              <a:ext uri="{FF2B5EF4-FFF2-40B4-BE49-F238E27FC236}">
                <a16:creationId xmlns:a16="http://schemas.microsoft.com/office/drawing/2014/main" id="{5BA888A7-F91E-4923-AB10-31BEF8C2FEB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747641" y="4120055"/>
            <a:ext cx="3513083" cy="118583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按一下以新增文字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803CCC-79BF-4752-81AA-D68AB023A6B6}"/>
              </a:ext>
            </a:extLst>
          </p:cNvPr>
          <p:cNvSpPr/>
          <p:nvPr userDrawn="1"/>
        </p:nvSpPr>
        <p:spPr>
          <a:xfrm>
            <a:off x="6360072" y="3584028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cxnSp>
        <p:nvCxnSpPr>
          <p:cNvPr id="11" name="直線接點​​(S) 10">
            <a:extLst>
              <a:ext uri="{FF2B5EF4-FFF2-40B4-BE49-F238E27FC236}">
                <a16:creationId xmlns:a16="http://schemas.microsoft.com/office/drawing/2014/main" id="{6ECBC35A-FE4E-467A-A20D-9063B371C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03095" y="0"/>
            <a:ext cx="0" cy="370473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標題 11">
            <a:extLst>
              <a:ext uri="{FF2B5EF4-FFF2-40B4-BE49-F238E27FC236}">
                <a16:creationId xmlns:a16="http://schemas.microsoft.com/office/drawing/2014/main" id="{A4FC0018-1CBF-4BC0-BE79-B983651D8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1005213" y="4932422"/>
            <a:ext cx="2635209" cy="523708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2744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訊工具的百分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06ACE2-BA16-48C7-A451-845668BC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9B479B-4CEB-47DB-903C-2E2D2445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6F2130-E7AA-4706-B388-47F7E032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311573-5DB1-44CE-818B-9E5F570408F1}"/>
              </a:ext>
            </a:extLst>
          </p:cNvPr>
          <p:cNvSpPr/>
          <p:nvPr userDrawn="1"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9" name="內容版面配置區 15">
            <a:extLst>
              <a:ext uri="{FF2B5EF4-FFF2-40B4-BE49-F238E27FC236}">
                <a16:creationId xmlns:a16="http://schemas.microsoft.com/office/drawing/2014/main" id="{6E328664-C733-476A-81C6-2A0B15B001A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029158" y="2838122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0" name="內容版面配置區 15">
            <a:extLst>
              <a:ext uri="{FF2B5EF4-FFF2-40B4-BE49-F238E27FC236}">
                <a16:creationId xmlns:a16="http://schemas.microsoft.com/office/drawing/2014/main" id="{4DA6C57C-E2CB-484E-94E6-9AB8DC7DB4C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029158" y="3379435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內容版面配置區 15">
            <a:extLst>
              <a:ext uri="{FF2B5EF4-FFF2-40B4-BE49-F238E27FC236}">
                <a16:creationId xmlns:a16="http://schemas.microsoft.com/office/drawing/2014/main" id="{97E74E6E-CDEF-424A-B7CE-5B34A0AC34D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29158" y="3928699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內容版面配置區 15">
            <a:extLst>
              <a:ext uri="{FF2B5EF4-FFF2-40B4-BE49-F238E27FC236}">
                <a16:creationId xmlns:a16="http://schemas.microsoft.com/office/drawing/2014/main" id="{E7A1AA76-7517-4C53-B2A4-EE8B1C6ADDD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029158" y="4476966"/>
            <a:ext cx="1786759" cy="43092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7" name="文字版面配置區 12">
            <a:extLst>
              <a:ext uri="{FF2B5EF4-FFF2-40B4-BE49-F238E27FC236}">
                <a16:creationId xmlns:a16="http://schemas.microsoft.com/office/drawing/2014/main" id="{273C9D83-2282-43F4-BB54-7CDA96B455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8588" y="1307183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 dirty="0"/>
              <a:t>#</a:t>
            </a:r>
          </a:p>
        </p:txBody>
      </p:sp>
      <p:sp>
        <p:nvSpPr>
          <p:cNvPr id="38" name="文字版面配置區 12">
            <a:extLst>
              <a:ext uri="{FF2B5EF4-FFF2-40B4-BE49-F238E27FC236}">
                <a16:creationId xmlns:a16="http://schemas.microsoft.com/office/drawing/2014/main" id="{90C1AC4A-23E9-4676-A30E-E39B4342FF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98588" y="3703828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39" name="文字版面配置區 12">
            <a:extLst>
              <a:ext uri="{FF2B5EF4-FFF2-40B4-BE49-F238E27FC236}">
                <a16:creationId xmlns:a16="http://schemas.microsoft.com/office/drawing/2014/main" id="{2C256BCC-FED6-4D75-8C65-5967DD2E01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3309" y="1307183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40" name="文字版面配置區 12">
            <a:extLst>
              <a:ext uri="{FF2B5EF4-FFF2-40B4-BE49-F238E27FC236}">
                <a16:creationId xmlns:a16="http://schemas.microsoft.com/office/drawing/2014/main" id="{036A0378-B8F0-463A-A66D-83D798223E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3309" y="3703828"/>
            <a:ext cx="1783393" cy="178305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BDF22D-6760-4BDD-92EF-E940DCC0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97" y="1369287"/>
            <a:ext cx="4079564" cy="1268810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9580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製作出色的產品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BAADBBE-F1E3-480E-BE79-B55DEF941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A4C868C7-0B77-47B8-9C16-7F97AA9F0D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4198D5-23F4-441A-AD0A-C6CD015E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8E5DAC80-95FC-4BA1-98B2-5631FB3B019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37298" y="3200401"/>
            <a:ext cx="5257799" cy="170180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2" name="頁尾版面配置區 4">
            <a:extLst>
              <a:ext uri="{FF2B5EF4-FFF2-40B4-BE49-F238E27FC236}">
                <a16:creationId xmlns:a16="http://schemas.microsoft.com/office/drawing/2014/main" id="{464448FE-96B4-43C5-8721-4FBF69ED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F8104834-0355-4576-A9E5-FF5B92B3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AD2D377-D829-49CC-9253-683054B9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298" y="2063075"/>
            <a:ext cx="5257799" cy="1268810"/>
          </a:xfrm>
          <a:prstGeom prst="rect">
            <a:avLst/>
          </a:prstGeom>
        </p:spPr>
        <p:txBody>
          <a:bodyPr rtlCol="0" anchor="ctr"/>
          <a:lstStyle>
            <a:lvl1pPr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4812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 Contoso 與競爭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圖片版面配置區 10">
            <a:extLst>
              <a:ext uri="{FF2B5EF4-FFF2-40B4-BE49-F238E27FC236}">
                <a16:creationId xmlns:a16="http://schemas.microsoft.com/office/drawing/2014/main" id="{995D6E1F-61DD-45C8-BD0F-87774F3858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F1E30-78A1-4D04-868B-2FF65A0C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92EE5A-2D26-4A38-BF97-6266BFC4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716CE84D-B2FA-4712-9112-9A6349EE051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08686" y="2921932"/>
            <a:ext cx="4114800" cy="126881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3" name="內容版面配置區 15">
            <a:extLst>
              <a:ext uri="{FF2B5EF4-FFF2-40B4-BE49-F238E27FC236}">
                <a16:creationId xmlns:a16="http://schemas.microsoft.com/office/drawing/2014/main" id="{5EB29FAF-F8EE-4156-8E07-E14DFBABA09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08686" y="4327267"/>
            <a:ext cx="4114800" cy="126881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FC5BC42-EC33-40D4-8189-69F1D23AD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686" y="1516597"/>
            <a:ext cx="3980182" cy="1268810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9832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歷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09C0924B-E154-4A9E-830A-0CED0F96B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6" name="文字版面配置區 14">
            <a:extLst>
              <a:ext uri="{FF2B5EF4-FFF2-40B4-BE49-F238E27FC236}">
                <a16:creationId xmlns:a16="http://schemas.microsoft.com/office/drawing/2014/main" id="{09FC371A-791E-4A18-A05F-62DAAB144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7" name="文字版面配置區 14">
            <a:extLst>
              <a:ext uri="{FF2B5EF4-FFF2-40B4-BE49-F238E27FC236}">
                <a16:creationId xmlns:a16="http://schemas.microsoft.com/office/drawing/2014/main" id="{7370EA53-C218-4777-8992-DFE61FD94A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8" name="文字版面配置區 14">
            <a:extLst>
              <a:ext uri="{FF2B5EF4-FFF2-40B4-BE49-F238E27FC236}">
                <a16:creationId xmlns:a16="http://schemas.microsoft.com/office/drawing/2014/main" id="{52263598-CA5C-4D32-8005-69A3003C53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9" name="文字版面配置區 14">
            <a:extLst>
              <a:ext uri="{FF2B5EF4-FFF2-40B4-BE49-F238E27FC236}">
                <a16:creationId xmlns:a16="http://schemas.microsoft.com/office/drawing/2014/main" id="{04255F76-4757-4D5C-80D7-A3307CEBC1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9397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0" name="文字版面配置區 14">
            <a:extLst>
              <a:ext uri="{FF2B5EF4-FFF2-40B4-BE49-F238E27FC236}">
                <a16:creationId xmlns:a16="http://schemas.microsoft.com/office/drawing/2014/main" id="{6948AE7E-55CC-4F22-9239-099E8E8EF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文字版面配置區 14">
            <a:extLst>
              <a:ext uri="{FF2B5EF4-FFF2-40B4-BE49-F238E27FC236}">
                <a16:creationId xmlns:a16="http://schemas.microsoft.com/office/drawing/2014/main" id="{D91E6446-232F-4870-8335-C708DDB3E7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文字版面配置區 14">
            <a:extLst>
              <a:ext uri="{FF2B5EF4-FFF2-40B4-BE49-F238E27FC236}">
                <a16:creationId xmlns:a16="http://schemas.microsoft.com/office/drawing/2014/main" id="{6A3A8254-B2DC-4C36-8E81-397E7CB3EC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3" name="文字版面配置區 14">
            <a:extLst>
              <a:ext uri="{FF2B5EF4-FFF2-40B4-BE49-F238E27FC236}">
                <a16:creationId xmlns:a16="http://schemas.microsoft.com/office/drawing/2014/main" id="{048C7215-4A75-4BF9-96EC-BEA9AA123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4" name="文字版面配置區 14">
            <a:extLst>
              <a:ext uri="{FF2B5EF4-FFF2-40B4-BE49-F238E27FC236}">
                <a16:creationId xmlns:a16="http://schemas.microsoft.com/office/drawing/2014/main" id="{C2FA34D0-4280-4201-9E40-5FE0D81D7D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5" name="文字版面配置區 14">
            <a:extLst>
              <a:ext uri="{FF2B5EF4-FFF2-40B4-BE49-F238E27FC236}">
                <a16:creationId xmlns:a16="http://schemas.microsoft.com/office/drawing/2014/main" id="{BD0D6DFA-0AE8-42A3-ADA8-785B98B99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6" name="文字版面配置區 14">
            <a:extLst>
              <a:ext uri="{FF2B5EF4-FFF2-40B4-BE49-F238E27FC236}">
                <a16:creationId xmlns:a16="http://schemas.microsoft.com/office/drawing/2014/main" id="{7E475D18-842D-4508-9049-99A36DA389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939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7" name="文字版面配置區 14">
            <a:extLst>
              <a:ext uri="{FF2B5EF4-FFF2-40B4-BE49-F238E27FC236}">
                <a16:creationId xmlns:a16="http://schemas.microsoft.com/office/drawing/2014/main" id="{F7A2B249-C1B4-4F5F-9C74-B3763CCFC8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8" name="文字版面配置區 14">
            <a:extLst>
              <a:ext uri="{FF2B5EF4-FFF2-40B4-BE49-F238E27FC236}">
                <a16:creationId xmlns:a16="http://schemas.microsoft.com/office/drawing/2014/main" id="{64240E02-7397-4BFB-923B-4E4A96C7C8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9" name="文字版面配置區 14">
            <a:extLst>
              <a:ext uri="{FF2B5EF4-FFF2-40B4-BE49-F238E27FC236}">
                <a16:creationId xmlns:a16="http://schemas.microsoft.com/office/drawing/2014/main" id="{41400094-84D6-4303-BA4B-0E0D1FF018E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0" name="文字版面配置區 14">
            <a:extLst>
              <a:ext uri="{FF2B5EF4-FFF2-40B4-BE49-F238E27FC236}">
                <a16:creationId xmlns:a16="http://schemas.microsoft.com/office/drawing/2014/main" id="{AAF6E8A4-DDDD-49A1-B1C9-3574B58A8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1" name="文字版面配置區 14">
            <a:extLst>
              <a:ext uri="{FF2B5EF4-FFF2-40B4-BE49-F238E27FC236}">
                <a16:creationId xmlns:a16="http://schemas.microsoft.com/office/drawing/2014/main" id="{D9AB8D6A-C296-4468-9A7D-7F46B3642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7957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2" name="文字版面配置區 14">
            <a:extLst>
              <a:ext uri="{FF2B5EF4-FFF2-40B4-BE49-F238E27FC236}">
                <a16:creationId xmlns:a16="http://schemas.microsoft.com/office/drawing/2014/main" id="{D17C8109-2F1A-4248-BE14-FE5D4AE1E3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3" name="文字版面配置區 14">
            <a:extLst>
              <a:ext uri="{FF2B5EF4-FFF2-40B4-BE49-F238E27FC236}">
                <a16:creationId xmlns:a16="http://schemas.microsoft.com/office/drawing/2014/main" id="{5735C006-B8AC-427F-A337-4F607EB5431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4" name="文字版面配置區 14">
            <a:extLst>
              <a:ext uri="{FF2B5EF4-FFF2-40B4-BE49-F238E27FC236}">
                <a16:creationId xmlns:a16="http://schemas.microsoft.com/office/drawing/2014/main" id="{B62C7805-F615-4B77-89DD-63F1F946E78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5" name="文字版面配置區 14">
            <a:extLst>
              <a:ext uri="{FF2B5EF4-FFF2-40B4-BE49-F238E27FC236}">
                <a16:creationId xmlns:a16="http://schemas.microsoft.com/office/drawing/2014/main" id="{7B0BABA0-0326-410E-AECF-0D41365DD47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6" name="文字版面配置區 14">
            <a:extLst>
              <a:ext uri="{FF2B5EF4-FFF2-40B4-BE49-F238E27FC236}">
                <a16:creationId xmlns:a16="http://schemas.microsoft.com/office/drawing/2014/main" id="{9E4FCBEC-4348-4D10-B139-FD526C86B17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7" name="文字版面配置區 14">
            <a:extLst>
              <a:ext uri="{FF2B5EF4-FFF2-40B4-BE49-F238E27FC236}">
                <a16:creationId xmlns:a16="http://schemas.microsoft.com/office/drawing/2014/main" id="{DA4FA8D2-F1E5-4A88-855F-84D521DB704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8" name="文字版面配置區 14">
            <a:extLst>
              <a:ext uri="{FF2B5EF4-FFF2-40B4-BE49-F238E27FC236}">
                <a16:creationId xmlns:a16="http://schemas.microsoft.com/office/drawing/2014/main" id="{7E27FFDC-7B67-4C2F-8712-C7961E6E9A9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7957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1" name="文字版面配置區 14">
            <a:extLst>
              <a:ext uri="{FF2B5EF4-FFF2-40B4-BE49-F238E27FC236}">
                <a16:creationId xmlns:a16="http://schemas.microsoft.com/office/drawing/2014/main" id="{B098AA04-538E-4D0B-BC5E-3C79B451D1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72211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新增年份</a:t>
            </a:r>
          </a:p>
        </p:txBody>
      </p:sp>
      <p:sp>
        <p:nvSpPr>
          <p:cNvPr id="52" name="文字版面配置區 14">
            <a:extLst>
              <a:ext uri="{FF2B5EF4-FFF2-40B4-BE49-F238E27FC236}">
                <a16:creationId xmlns:a16="http://schemas.microsoft.com/office/drawing/2014/main" id="{80992CBE-A6F0-4FF1-8F4F-84B050480A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361409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新增年份</a:t>
            </a:r>
          </a:p>
        </p:txBody>
      </p:sp>
      <p:sp>
        <p:nvSpPr>
          <p:cNvPr id="53" name="文字版面配置區 14">
            <a:extLst>
              <a:ext uri="{FF2B5EF4-FFF2-40B4-BE49-F238E27FC236}">
                <a16:creationId xmlns:a16="http://schemas.microsoft.com/office/drawing/2014/main" id="{738B60B3-540F-4900-A4BB-0B521A1F75C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4" name="文字版面配置區 14">
            <a:extLst>
              <a:ext uri="{FF2B5EF4-FFF2-40B4-BE49-F238E27FC236}">
                <a16:creationId xmlns:a16="http://schemas.microsoft.com/office/drawing/2014/main" id="{FD7D7797-7938-4D6E-B5A4-21536E2021E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5" name="文字版面配置區 14">
            <a:extLst>
              <a:ext uri="{FF2B5EF4-FFF2-40B4-BE49-F238E27FC236}">
                <a16:creationId xmlns:a16="http://schemas.microsoft.com/office/drawing/2014/main" id="{F7B339B7-1A20-4B38-8EAE-3C98E757DA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6720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6" name="文字版面配置區 14">
            <a:extLst>
              <a:ext uri="{FF2B5EF4-FFF2-40B4-BE49-F238E27FC236}">
                <a16:creationId xmlns:a16="http://schemas.microsoft.com/office/drawing/2014/main" id="{3D0B1401-F4EC-4750-A2AA-34CD72504AC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7" name="文字版面配置區 14">
            <a:extLst>
              <a:ext uri="{FF2B5EF4-FFF2-40B4-BE49-F238E27FC236}">
                <a16:creationId xmlns:a16="http://schemas.microsoft.com/office/drawing/2014/main" id="{25C7DA61-BA93-48EE-BB6E-9E5D96271A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8" name="文字版面配置區 14">
            <a:extLst>
              <a:ext uri="{FF2B5EF4-FFF2-40B4-BE49-F238E27FC236}">
                <a16:creationId xmlns:a16="http://schemas.microsoft.com/office/drawing/2014/main" id="{6B7F232D-8C58-4A29-8A95-52E6B74C053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978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102" name="直線接點​​(S) 101">
            <a:extLst>
              <a:ext uri="{FF2B5EF4-FFF2-40B4-BE49-F238E27FC236}">
                <a16:creationId xmlns:a16="http://schemas.microsoft.com/office/drawing/2014/main" id="{F2334811-4848-4246-ACD8-273541203B2A}"/>
              </a:ext>
            </a:extLst>
          </p:cNvPr>
          <p:cNvCxnSpPr>
            <a:cxnSpLocks/>
          </p:cNvCxnSpPr>
          <p:nvPr userDrawn="1"/>
        </p:nvCxnSpPr>
        <p:spPr>
          <a:xfrm>
            <a:off x="0" y="755452"/>
            <a:ext cx="1033062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45E76D73-D506-4E6B-A789-AB87E732A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418" y="100579"/>
            <a:ext cx="1943381" cy="1268811"/>
          </a:xfrm>
          <a:prstGeom prst="rect">
            <a:avLst/>
          </a:prstGeom>
        </p:spPr>
        <p:txBody>
          <a:bodyPr rtlCol="0" anchor="ctr"/>
          <a:lstStyle>
            <a:lvl1pPr algn="r"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r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927700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重要心得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A3D8856B-7A24-4C55-9910-ED81BFA0A0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3B3118EB-9968-4E6E-B2B6-A76765DCFA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01509" y="2431279"/>
            <a:ext cx="4288971" cy="305512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0" name="頁尾版面配置區 4">
            <a:extLst>
              <a:ext uri="{FF2B5EF4-FFF2-40B4-BE49-F238E27FC236}">
                <a16:creationId xmlns:a16="http://schemas.microsoft.com/office/drawing/2014/main" id="{3ABAA64D-DEC0-453B-A9D7-7183AF0C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11" name="投影片編號版面配置區 5">
            <a:extLst>
              <a:ext uri="{FF2B5EF4-FFF2-40B4-BE49-F238E27FC236}">
                <a16:creationId xmlns:a16="http://schemas.microsoft.com/office/drawing/2014/main" id="{F74F7F62-A2D6-471E-83D8-44BA2699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CF88F189-31A8-4BA7-80D9-4A40A4E2B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34820" y="-3976"/>
            <a:ext cx="0" cy="21593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14EE86B4-3F11-45CB-96F9-7D1AB761A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506" y="1761891"/>
            <a:ext cx="4288971" cy="532862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62730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適用于企業的秘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60ED5431-1075-4889-87EB-D79FFE5096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04630"/>
            <a:ext cx="12192000" cy="40622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E7CC669C-5E68-40A8-8F59-E044A32F4B3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999340"/>
            <a:ext cx="5578870" cy="1408770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93EEC13B-7926-4108-B0C5-F3A2A5AE6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0C546480-8B8D-4EF8-8C6A-DFFAC275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59" y="1352736"/>
            <a:ext cx="3037792" cy="657883"/>
          </a:xfrm>
          <a:prstGeom prst="rect">
            <a:avLst/>
          </a:prstGeom>
        </p:spPr>
        <p:txBody>
          <a:bodyPr rtlCol="0" anchor="ctr"/>
          <a:lstStyle>
            <a:lvl1pPr algn="l">
              <a:lnSpc>
                <a:spcPct val="100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27896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採取行動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15B931B-7725-4C86-A82C-07F42F44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116D3891-B2BA-4AE6-AAA7-560547F4B5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8" name="頁尾版面配置區 4">
            <a:extLst>
              <a:ext uri="{FF2B5EF4-FFF2-40B4-BE49-F238E27FC236}">
                <a16:creationId xmlns:a16="http://schemas.microsoft.com/office/drawing/2014/main" id="{89831967-45C9-40AF-A955-56E9578B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 rtlCol="0"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6167DEC-7546-44F6-AD64-E71C2FF1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 rtlCol="0"/>
          <a:lstStyle>
            <a:lvl1pPr>
              <a:defRPr>
                <a:solidFill>
                  <a:schemeClr val="accent6">
                    <a:lumMod val="75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1" name="內容版面配置區 15">
            <a:extLst>
              <a:ext uri="{FF2B5EF4-FFF2-40B4-BE49-F238E27FC236}">
                <a16:creationId xmlns:a16="http://schemas.microsoft.com/office/drawing/2014/main" id="{61241730-14B7-407E-9517-F4510520D03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1900" y="3282850"/>
            <a:ext cx="5350010" cy="103073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055B60F-1D5E-4B0C-8354-2E7AA187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898" y="2471206"/>
            <a:ext cx="5350010" cy="867398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00000"/>
              </a:lnSpc>
              <a:defRPr lang="en-US" sz="2400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91455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感謝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10">
            <a:extLst>
              <a:ext uri="{FF2B5EF4-FFF2-40B4-BE49-F238E27FC236}">
                <a16:creationId xmlns:a16="http://schemas.microsoft.com/office/drawing/2014/main" id="{9C6F1ED5-824E-4C14-8D5E-5A0A26C5421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9F762423-7F4E-4A21-8F09-05418F82F9D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78765" y="3267882"/>
            <a:ext cx="3193926" cy="2203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22AE728-7030-4847-B87B-FDB4B86E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8765" y="2371063"/>
            <a:ext cx="3193926" cy="999451"/>
          </a:xfrm>
          <a:prstGeom prst="rect">
            <a:avLst/>
          </a:prstGeom>
        </p:spPr>
        <p:txBody>
          <a:bodyPr rtlCol="0"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0101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spc="150" baseline="0">
                <a:solidFill>
                  <a:schemeClr val="bg2">
                    <a:lumMod val="50000"/>
                  </a:schemeClr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defRPr>
            </a:lvl1pPr>
          </a:lstStyle>
          <a:p>
            <a:fld id="{18D65601-5AE2-46FC-B138-694DDD2B510D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84DCE26-8B90-4B2C-883A-D5FFC365BF8A}"/>
              </a:ext>
            </a:extLst>
          </p:cNvPr>
          <p:cNvSpPr txBox="1"/>
          <p:nvPr userDrawn="1"/>
        </p:nvSpPr>
        <p:spPr>
          <a:xfrm>
            <a:off x="5637320" y="297401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endParaRPr lang="zh-TW" altLang="en-US" noProof="0"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C022D7CD-E026-4E29-BE4B-3FA7B1EB6A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63027" y="4745864"/>
            <a:ext cx="3914981" cy="1177290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TW" altLang="en-US" dirty="0"/>
              <a:t>莊凱翔 助理教授</a:t>
            </a:r>
            <a:endParaRPr lang="en-US" altLang="zh-TW" dirty="0"/>
          </a:p>
          <a:p>
            <a:pPr rtl="0">
              <a:lnSpc>
                <a:spcPct val="100000"/>
              </a:lnSpc>
            </a:pPr>
            <a:r>
              <a:rPr lang="zh-TW" altLang="en-US" dirty="0"/>
              <a:t>元智大學機械工程學系</a:t>
            </a:r>
            <a:endParaRPr lang="en-US" altLang="zh-TW" dirty="0"/>
          </a:p>
          <a:p>
            <a:pPr rtl="0">
              <a:lnSpc>
                <a:spcPct val="100000"/>
              </a:lnSpc>
            </a:pPr>
            <a:r>
              <a:rPr lang="en-US" altLang="zh-TW" dirty="0"/>
              <a:t>115-1</a:t>
            </a:r>
            <a:r>
              <a:rPr lang="zh-TW" altLang="en-US" dirty="0"/>
              <a:t> 人工智慧概論課程</a:t>
            </a:r>
          </a:p>
        </p:txBody>
      </p:sp>
      <p:sp>
        <p:nvSpPr>
          <p:cNvPr id="36" name="文字版面配置區 35">
            <a:extLst>
              <a:ext uri="{FF2B5EF4-FFF2-40B4-BE49-F238E27FC236}">
                <a16:creationId xmlns:a16="http://schemas.microsoft.com/office/drawing/2014/main" id="{AEEB6582-6001-4276-8F87-1470B6FA14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47790" y="5237725"/>
            <a:ext cx="2459114" cy="685429"/>
          </a:xfrm>
        </p:spPr>
        <p:txBody>
          <a:bodyPr rtlCol="0"/>
          <a:lstStyle/>
          <a:p>
            <a:pPr rtl="0"/>
            <a:r>
              <a:rPr lang="en-US" altLang="zh-TW" dirty="0"/>
              <a:t>2026/09/15</a:t>
            </a:r>
          </a:p>
        </p:txBody>
      </p:sp>
      <p:sp>
        <p:nvSpPr>
          <p:cNvPr id="2" name="AutoShape 2" descr="決策樹：從資料到更好選擇">
            <a:extLst>
              <a:ext uri="{FF2B5EF4-FFF2-40B4-BE49-F238E27FC236}">
                <a16:creationId xmlns:a16="http://schemas.microsoft.com/office/drawing/2014/main" id="{20C9AE9D-492F-FF69-7210-445D247387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26B30AF-19FC-FAB6-B3D5-E8C4593C0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78" y="594522"/>
            <a:ext cx="10686026" cy="356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9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1A8B27D-EF6A-7E0B-F191-158783750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42" y="1790290"/>
            <a:ext cx="10669058" cy="3556353"/>
          </a:xfrm>
          <a:prstGeom prst="rect">
            <a:avLst/>
          </a:prstGeom>
        </p:spPr>
      </p:pic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07E6829-5E03-BE46-89D0-FC59E05B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noProof="0"/>
              <a:t>20XX/8/05</a:t>
            </a:r>
            <a:endParaRPr lang="zh-TW" altLang="en-US" noProof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7A6C03-A97A-8BA4-7C0B-A5A244E4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2</a:t>
            </a:fld>
            <a:endParaRPr lang="zh-TW" altLang="en-US" noProof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934863DB-7719-7264-6314-791E2DEE8B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43446" y="1420099"/>
            <a:ext cx="4702248" cy="893570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altLang="zh-TW" sz="2800" dirty="0"/>
              <a:t>K-means</a:t>
            </a:r>
            <a:r>
              <a:rPr lang="zh-TW" altLang="en-US" sz="2800" dirty="0"/>
              <a:t> </a:t>
            </a:r>
            <a:r>
              <a:rPr lang="en-US" altLang="zh-TW" sz="2800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179940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DB9DC99E-B2EA-1234-FD4F-F4488970AD3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397556" y="296704"/>
            <a:ext cx="9396887" cy="6264591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D457FD-B341-0F37-65FC-6DCD3AADF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95BB09-5BDD-36ED-0F56-1CB8E7516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3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867184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CBEEA-B681-8001-670D-24BF504D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EF5B2-4E1E-A945-E8E1-66F980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4</a:t>
            </a:fld>
            <a:endParaRPr lang="zh-TW" altLang="en-US" noProof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411CEC8C-4577-D068-662B-83F2B291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2" y="6020958"/>
            <a:ext cx="10704050" cy="469476"/>
          </a:xfrm>
        </p:spPr>
        <p:txBody>
          <a:bodyPr/>
          <a:lstStyle/>
          <a:p>
            <a:r>
              <a:rPr lang="zh-TW" altLang="en-US" sz="1400" dirty="0"/>
              <a:t>參考文章</a:t>
            </a:r>
            <a:r>
              <a:rPr lang="en-US" altLang="zh-TW" sz="1400" dirty="0"/>
              <a:t>:</a:t>
            </a:r>
            <a:r>
              <a:rPr lang="zh-TW" altLang="en-US" sz="1400" dirty="0"/>
              <a:t> </a:t>
            </a:r>
            <a:r>
              <a:rPr lang="en-US" altLang="zh-TW" sz="1400" dirty="0"/>
              <a:t>https://medium.com/@jason8410271027/%E5%AD%B8%E7%BF%92%E7%AD%86%E8%A8%98-k-means%E7%90%86%E8%AB%96%E7%AF%87-40e0ae506e1b</a:t>
            </a:r>
            <a:r>
              <a:rPr lang="zh-TW" altLang="en-US" sz="1400" dirty="0"/>
              <a:t> 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DA37B4F-8237-2948-34FD-3594F0FC7324}"/>
              </a:ext>
            </a:extLst>
          </p:cNvPr>
          <p:cNvSpPr txBox="1"/>
          <p:nvPr/>
        </p:nvSpPr>
        <p:spPr>
          <a:xfrm>
            <a:off x="1016002" y="837042"/>
            <a:ext cx="10635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0" i="0" dirty="0">
                <a:solidFill>
                  <a:srgbClr val="242424"/>
                </a:solidFill>
                <a:effectLst/>
                <a:latin typeface="source-serif-pro"/>
              </a:rPr>
              <a:t>K-means</a:t>
            </a:r>
            <a:r>
              <a:rPr lang="zh-TW" altLang="en-US" sz="2400" b="0" i="0" dirty="0">
                <a:solidFill>
                  <a:srgbClr val="242424"/>
                </a:solidFill>
                <a:effectLst/>
                <a:latin typeface="source-serif-pro"/>
              </a:rPr>
              <a:t>最核心的概念，就是物以類聚，也就是相似的資料會被歸類為同一組</a:t>
            </a:r>
            <a:endParaRPr lang="zh-TW" altLang="en-US" sz="24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C1C65310-58ED-1765-D6E3-FE118E329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839" y="1693121"/>
            <a:ext cx="5178321" cy="401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9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CBEEA-B681-8001-670D-24BF504D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EF5B2-4E1E-A945-E8E1-66F980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5</a:t>
            </a:fld>
            <a:endParaRPr lang="zh-TW" altLang="en-US" noProof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CD16A3B-6DC1-12A8-A8B5-438D9ADCDB21}"/>
              </a:ext>
            </a:extLst>
          </p:cNvPr>
          <p:cNvSpPr txBox="1"/>
          <p:nvPr/>
        </p:nvSpPr>
        <p:spPr>
          <a:xfrm>
            <a:off x="1016002" y="446225"/>
            <a:ext cx="10704050" cy="878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Step 1. 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sohne"/>
              </a:rPr>
              <a:t>定義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K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sohne"/>
              </a:rPr>
              <a:t>個群</a:t>
            </a:r>
          </a:p>
          <a:p>
            <a:pPr algn="l">
              <a:lnSpc>
                <a:spcPct val="150000"/>
              </a:lnSpc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首先使用者要先定義，想要將資料分成幾個群。以本範例來說，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K=2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，意即今天想要把這些資料分為兩群。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0A6660D-5DBA-D00D-8270-DCD1BF9FCED5}"/>
              </a:ext>
            </a:extLst>
          </p:cNvPr>
          <p:cNvSpPr txBox="1"/>
          <p:nvPr/>
        </p:nvSpPr>
        <p:spPr>
          <a:xfrm>
            <a:off x="1016001" y="1626288"/>
            <a:ext cx="4696541" cy="254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Step 2. 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sohne"/>
              </a:rPr>
              <a:t>隨機給予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K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sohne"/>
              </a:rPr>
              <a:t>個中心點</a:t>
            </a:r>
          </a:p>
          <a:p>
            <a:pPr algn="l">
              <a:lnSpc>
                <a:spcPct val="150000"/>
              </a:lnSpc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接著演算法，會隨機在這資料中，給定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K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個中心點作為標記。由於本範例希望能夠將資料分為兩群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(K=2)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，因此演算法也會在資料中隨機給定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2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個中心點，也就是圖中的紅色三角形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(Cluster 1)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，與綠色三角形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(Cluster 2)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：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AA6B8E3-A60C-56FB-FA56-5DEA7ED10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125" y="1709288"/>
            <a:ext cx="5538927" cy="430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35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CBEEA-B681-8001-670D-24BF504D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EF5B2-4E1E-A945-E8E1-66F980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6</a:t>
            </a:fld>
            <a:endParaRPr lang="zh-TW" altLang="en-US" noProof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CD16A3B-6DC1-12A8-A8B5-438D9ADCDB21}"/>
              </a:ext>
            </a:extLst>
          </p:cNvPr>
          <p:cNvSpPr txBox="1"/>
          <p:nvPr/>
        </p:nvSpPr>
        <p:spPr>
          <a:xfrm>
            <a:off x="917679" y="79410"/>
            <a:ext cx="10654888" cy="129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Step 3. 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sohne"/>
              </a:rPr>
              <a:t>計算每個點到中心點的距離，並將距離最近的分為一類。</a:t>
            </a:r>
          </a:p>
          <a:p>
            <a:pPr algn="l">
              <a:lnSpc>
                <a:spcPct val="150000"/>
              </a:lnSpc>
            </a:pP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在此我們必須計算每個資料點，與每個中心點之間的距離，而計算方式就是使用歐基里德距離，因此以資料點</a:t>
            </a:r>
            <a:r>
              <a:rPr lang="en-US" altLang="zh-TW" i="0" dirty="0">
                <a:solidFill>
                  <a:srgbClr val="242424"/>
                </a:solidFill>
                <a:effectLst/>
                <a:latin typeface="sohne"/>
              </a:rPr>
              <a:t>(2.5,2.5)</a:t>
            </a: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舉例的話，其運算邏輯如下：</a:t>
            </a:r>
            <a:endParaRPr lang="zh-TW" altLang="en-US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74ED3E-7166-EC4E-BA93-B6AEA0A6F2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7"/>
          <a:stretch/>
        </p:blipFill>
        <p:spPr>
          <a:xfrm>
            <a:off x="1006170" y="1899846"/>
            <a:ext cx="4884173" cy="365191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226ACC6-B894-4860-7ADE-DE2C18157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230" y="1988335"/>
            <a:ext cx="5397104" cy="3301420"/>
          </a:xfrm>
          <a:prstGeom prst="rect">
            <a:avLst/>
          </a:prstGeom>
        </p:spPr>
      </p:pic>
      <p:sp>
        <p:nvSpPr>
          <p:cNvPr id="10" name="箭號: 向右 9">
            <a:extLst>
              <a:ext uri="{FF2B5EF4-FFF2-40B4-BE49-F238E27FC236}">
                <a16:creationId xmlns:a16="http://schemas.microsoft.com/office/drawing/2014/main" id="{7A91B94A-75AE-9513-2140-3BC252164B2C}"/>
              </a:ext>
            </a:extLst>
          </p:cNvPr>
          <p:cNvSpPr/>
          <p:nvPr/>
        </p:nvSpPr>
        <p:spPr>
          <a:xfrm>
            <a:off x="5949558" y="3429000"/>
            <a:ext cx="510457" cy="44491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217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CBEEA-B681-8001-670D-24BF504D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EF5B2-4E1E-A945-E8E1-66F980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7</a:t>
            </a:fld>
            <a:endParaRPr lang="zh-TW" altLang="en-US" noProof="0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7A91B94A-75AE-9513-2140-3BC252164B2C}"/>
              </a:ext>
            </a:extLst>
          </p:cNvPr>
          <p:cNvSpPr/>
          <p:nvPr/>
        </p:nvSpPr>
        <p:spPr>
          <a:xfrm>
            <a:off x="6581455" y="3206545"/>
            <a:ext cx="510457" cy="44491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2F5E930-433E-CBDC-9D79-7F7C64FF95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1"/>
          <a:stretch/>
        </p:blipFill>
        <p:spPr>
          <a:xfrm>
            <a:off x="955061" y="1784251"/>
            <a:ext cx="5626394" cy="350550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57069A1-86AA-D61E-6E72-28FA85871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082" y="1837738"/>
            <a:ext cx="4573279" cy="3592212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A50758-2E80-8118-3ACA-F6D42AD0DD7D}"/>
              </a:ext>
            </a:extLst>
          </p:cNvPr>
          <p:cNvSpPr txBox="1"/>
          <p:nvPr/>
        </p:nvSpPr>
        <p:spPr>
          <a:xfrm>
            <a:off x="955061" y="911398"/>
            <a:ext cx="10654888" cy="46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b="1" i="0" dirty="0">
                <a:solidFill>
                  <a:srgbClr val="242424"/>
                </a:solidFill>
                <a:effectLst/>
                <a:latin typeface="sohne"/>
              </a:rPr>
              <a:t>進行第一次分群</a:t>
            </a:r>
            <a:endParaRPr lang="zh-TW" altLang="en-US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161858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CBEEA-B681-8001-670D-24BF504D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EF5B2-4E1E-A945-E8E1-66F980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8</a:t>
            </a:fld>
            <a:endParaRPr lang="zh-TW" altLang="en-US" noProof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A50758-2E80-8118-3ACA-F6D42AD0DD7D}"/>
              </a:ext>
            </a:extLst>
          </p:cNvPr>
          <p:cNvSpPr txBox="1"/>
          <p:nvPr/>
        </p:nvSpPr>
        <p:spPr>
          <a:xfrm>
            <a:off x="955061" y="80401"/>
            <a:ext cx="10654888" cy="129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Step 4. 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sohne"/>
              </a:rPr>
              <a:t>調整中心點</a:t>
            </a:r>
          </a:p>
          <a:p>
            <a:pPr algn="l">
              <a:lnSpc>
                <a:spcPct val="150000"/>
              </a:lnSpc>
            </a:pP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在分完群後，必須重新調整一次各</a:t>
            </a:r>
            <a:r>
              <a:rPr lang="en-US" altLang="zh-TW" i="0" dirty="0">
                <a:solidFill>
                  <a:srgbClr val="242424"/>
                </a:solidFill>
                <a:effectLst/>
                <a:latin typeface="sohne"/>
              </a:rPr>
              <a:t>Cluster</a:t>
            </a: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的中心點，而調整方式就是將每個</a:t>
            </a:r>
            <a:r>
              <a:rPr lang="en-US" altLang="zh-TW" i="0" dirty="0">
                <a:solidFill>
                  <a:srgbClr val="242424"/>
                </a:solidFill>
                <a:effectLst/>
                <a:latin typeface="sohne"/>
              </a:rPr>
              <a:t>Cluster</a:t>
            </a: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內的資料相加，並除以自身</a:t>
            </a:r>
            <a:r>
              <a:rPr lang="en-US" altLang="zh-TW" i="0" dirty="0">
                <a:solidFill>
                  <a:srgbClr val="242424"/>
                </a:solidFill>
                <a:effectLst/>
                <a:latin typeface="sohne"/>
              </a:rPr>
              <a:t>Cluster</a:t>
            </a: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內的資料筆數，即可求出新的</a:t>
            </a:r>
            <a:r>
              <a:rPr lang="en-US" altLang="zh-TW" i="0" dirty="0">
                <a:solidFill>
                  <a:srgbClr val="242424"/>
                </a:solidFill>
                <a:effectLst/>
                <a:latin typeface="sohne"/>
              </a:rPr>
              <a:t>Cluster</a:t>
            </a: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中心點：</a:t>
            </a:r>
            <a:endParaRPr lang="zh-TW" altLang="en-US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9C7A082-359D-62FC-C21E-7715D8ADB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12" y="1995662"/>
            <a:ext cx="6135821" cy="357922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02A1FEC-1AA1-9847-423F-7A8B0B731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815" y="1867805"/>
            <a:ext cx="4731759" cy="3826010"/>
          </a:xfrm>
          <a:prstGeom prst="rect">
            <a:avLst/>
          </a:prstGeom>
        </p:spPr>
      </p:pic>
      <p:sp>
        <p:nvSpPr>
          <p:cNvPr id="9" name="箭號: 向右 8">
            <a:extLst>
              <a:ext uri="{FF2B5EF4-FFF2-40B4-BE49-F238E27FC236}">
                <a16:creationId xmlns:a16="http://schemas.microsoft.com/office/drawing/2014/main" id="{165D1242-E681-86B8-C7CF-DD22622D1AF2}"/>
              </a:ext>
            </a:extLst>
          </p:cNvPr>
          <p:cNvSpPr/>
          <p:nvPr/>
        </p:nvSpPr>
        <p:spPr>
          <a:xfrm>
            <a:off x="6601796" y="3558355"/>
            <a:ext cx="510457" cy="44491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529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CBEEA-B681-8001-670D-24BF504D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EF5B2-4E1E-A945-E8E1-66F980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9</a:t>
            </a:fld>
            <a:endParaRPr lang="zh-TW" altLang="en-US" noProof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A50758-2E80-8118-3ACA-F6D42AD0DD7D}"/>
              </a:ext>
            </a:extLst>
          </p:cNvPr>
          <p:cNvSpPr txBox="1"/>
          <p:nvPr/>
        </p:nvSpPr>
        <p:spPr>
          <a:xfrm>
            <a:off x="955061" y="80401"/>
            <a:ext cx="10654888" cy="129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Step 5. 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sohne"/>
              </a:rPr>
              <a:t>重複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Step 3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sohne"/>
              </a:rPr>
              <a:t>與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sohne"/>
              </a:rPr>
              <a:t>Step 4</a:t>
            </a:r>
          </a:p>
          <a:p>
            <a:pPr algn="l">
              <a:lnSpc>
                <a:spcPct val="150000"/>
              </a:lnSpc>
            </a:pP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接下必須一直重複</a:t>
            </a:r>
            <a:r>
              <a:rPr lang="en-US" altLang="zh-TW" i="0" dirty="0">
                <a:solidFill>
                  <a:srgbClr val="242424"/>
                </a:solidFill>
                <a:effectLst/>
                <a:latin typeface="sohne"/>
              </a:rPr>
              <a:t>Step 3</a:t>
            </a: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與</a:t>
            </a:r>
            <a:r>
              <a:rPr lang="en-US" altLang="zh-TW" i="0" dirty="0">
                <a:solidFill>
                  <a:srgbClr val="242424"/>
                </a:solidFill>
                <a:effectLst/>
                <a:latin typeface="sohne"/>
              </a:rPr>
              <a:t>Step 4</a:t>
            </a: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的動作，直到每個</a:t>
            </a:r>
            <a:r>
              <a:rPr lang="en-US" altLang="zh-TW" i="0" dirty="0">
                <a:solidFill>
                  <a:srgbClr val="242424"/>
                </a:solidFill>
                <a:effectLst/>
                <a:latin typeface="sohne"/>
              </a:rPr>
              <a:t>Cluster</a:t>
            </a: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的中心點不會在變動為止。而其最後結果，應該會如下圖所示：</a:t>
            </a:r>
            <a:endParaRPr lang="zh-TW" altLang="en-US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165D1242-E681-86B8-C7CF-DD22622D1AF2}"/>
              </a:ext>
            </a:extLst>
          </p:cNvPr>
          <p:cNvSpPr/>
          <p:nvPr/>
        </p:nvSpPr>
        <p:spPr>
          <a:xfrm>
            <a:off x="6601796" y="3587852"/>
            <a:ext cx="510457" cy="44491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049BE4F-8910-1D12-EDF8-7DFECBCAA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69" y="1683672"/>
            <a:ext cx="5616854" cy="453031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43B891F7-A112-6038-06F7-4F73A863473D}"/>
              </a:ext>
            </a:extLst>
          </p:cNvPr>
          <p:cNvSpPr txBox="1"/>
          <p:nvPr/>
        </p:nvSpPr>
        <p:spPr>
          <a:xfrm>
            <a:off x="7362856" y="2749664"/>
            <a:ext cx="4247093" cy="212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綜上觀察可以發現，其實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K-means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就是透過這些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  <a:t>Cluster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中心點不斷的變動，來找出合適的分群結果，而非資料點本身的變動，然後其計算與推導方式，主要就是計算距離為主。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4072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CBEEA-B681-8001-670D-24BF504D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EF5B2-4E1E-A945-E8E1-66F980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10</a:t>
            </a:fld>
            <a:endParaRPr lang="zh-TW" altLang="en-US" noProof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A50758-2E80-8118-3ACA-F6D42AD0DD7D}"/>
              </a:ext>
            </a:extLst>
          </p:cNvPr>
          <p:cNvSpPr txBox="1"/>
          <p:nvPr/>
        </p:nvSpPr>
        <p:spPr>
          <a:xfrm>
            <a:off x="1053384" y="801124"/>
            <a:ext cx="10654888" cy="46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b="1" i="0" dirty="0">
                <a:solidFill>
                  <a:srgbClr val="242424"/>
                </a:solidFill>
                <a:effectLst/>
                <a:latin typeface="sohne"/>
              </a:rPr>
              <a:t>分群變化</a:t>
            </a:r>
            <a:endParaRPr lang="zh-TW" altLang="en-US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049BE4F-8910-1D12-EDF8-7DFECBCAA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575" y="2101153"/>
            <a:ext cx="3666390" cy="2957154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19A7F316-CD16-EB01-7437-436A10528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842" y="2069361"/>
            <a:ext cx="3593072" cy="290528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4446FEB-ABDF-D9A7-51CB-7979FDEBF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868" y="2101153"/>
            <a:ext cx="3694954" cy="2902307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CA0C9A44-F8DE-7481-9655-8A1A6671C377}"/>
              </a:ext>
            </a:extLst>
          </p:cNvPr>
          <p:cNvSpPr/>
          <p:nvPr/>
        </p:nvSpPr>
        <p:spPr>
          <a:xfrm>
            <a:off x="3919743" y="3276495"/>
            <a:ext cx="510457" cy="44491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E810690A-598D-6B4A-5EE0-8DDCBC1BFD16}"/>
              </a:ext>
            </a:extLst>
          </p:cNvPr>
          <p:cNvSpPr/>
          <p:nvPr/>
        </p:nvSpPr>
        <p:spPr>
          <a:xfrm>
            <a:off x="7919118" y="3250512"/>
            <a:ext cx="510457" cy="44491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18567FC-5BCA-9ED6-6CE5-D1394EB060BF}"/>
              </a:ext>
            </a:extLst>
          </p:cNvPr>
          <p:cNvSpPr txBox="1"/>
          <p:nvPr/>
        </p:nvSpPr>
        <p:spPr>
          <a:xfrm>
            <a:off x="4606121" y="5118337"/>
            <a:ext cx="3429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重複</a:t>
            </a:r>
            <a:r>
              <a:rPr lang="en-US" altLang="zh-TW" i="0" dirty="0">
                <a:solidFill>
                  <a:srgbClr val="242424"/>
                </a:solidFill>
                <a:effectLst/>
                <a:latin typeface="sohne"/>
              </a:rPr>
              <a:t>Step 3</a:t>
            </a: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與</a:t>
            </a:r>
            <a:r>
              <a:rPr lang="en-US" altLang="zh-TW" i="0" dirty="0">
                <a:solidFill>
                  <a:srgbClr val="242424"/>
                </a:solidFill>
                <a:effectLst/>
                <a:latin typeface="sohne"/>
              </a:rPr>
              <a:t>Step 4</a:t>
            </a:r>
            <a:r>
              <a:rPr lang="zh-TW" altLang="en-US" i="0" dirty="0">
                <a:solidFill>
                  <a:srgbClr val="242424"/>
                </a:solidFill>
                <a:effectLst/>
                <a:latin typeface="sohne"/>
              </a:rPr>
              <a:t> </a:t>
            </a:r>
            <a:r>
              <a:rPr lang="zh-TW" altLang="en-US" dirty="0">
                <a:solidFill>
                  <a:srgbClr val="242424"/>
                </a:solidFill>
                <a:latin typeface="sohne"/>
              </a:rPr>
              <a:t>步驟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5286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CBEEA-B681-8001-670D-24BF504D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EF5B2-4E1E-A945-E8E1-66F980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11</a:t>
            </a:fld>
            <a:endParaRPr lang="zh-TW" altLang="en-US" noProof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DA37B4F-8237-2948-34FD-3594F0FC7324}"/>
              </a:ext>
            </a:extLst>
          </p:cNvPr>
          <p:cNvSpPr txBox="1"/>
          <p:nvPr/>
        </p:nvSpPr>
        <p:spPr>
          <a:xfrm>
            <a:off x="1016002" y="837042"/>
            <a:ext cx="10635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資料標準化（</a:t>
            </a:r>
            <a:r>
              <a:rPr lang="en-US" altLang="zh-TW" sz="2400"/>
              <a:t>Standardization</a:t>
            </a:r>
            <a:r>
              <a:rPr lang="zh-TW" altLang="en-US" sz="2400"/>
              <a:t>）</a:t>
            </a:r>
            <a:endParaRPr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1707136-235F-4582-357E-5DCBE5B75157}"/>
              </a:ext>
            </a:extLst>
          </p:cNvPr>
          <p:cNvSpPr txBox="1"/>
          <p:nvPr/>
        </p:nvSpPr>
        <p:spPr>
          <a:xfrm>
            <a:off x="1016001" y="1790770"/>
            <a:ext cx="10635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K-Means </a:t>
            </a:r>
            <a:r>
              <a:rPr lang="zh-TW" altLang="en-US" dirty="0"/>
              <a:t>是利用資料點之間的**距離（</a:t>
            </a:r>
            <a:r>
              <a:rPr lang="en-US" altLang="zh-TW" dirty="0"/>
              <a:t>Distance</a:t>
            </a:r>
            <a:r>
              <a:rPr lang="zh-TW" altLang="en-US" dirty="0"/>
              <a:t>）**來判斷哪些資料應該被分在同一群。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8352633-8540-9002-8D8D-5868814BE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324" y="2575576"/>
            <a:ext cx="8656141" cy="1642508"/>
          </a:xfrm>
          <a:prstGeom prst="rect">
            <a:avLst/>
          </a:prstGeom>
          <a:ln w="952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AB87873-9B26-0C9D-7433-F80B39F18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324" y="4633559"/>
            <a:ext cx="8695623" cy="1642507"/>
          </a:xfrm>
          <a:prstGeom prst="rect">
            <a:avLst/>
          </a:prstGeom>
          <a:ln w="952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33646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CBEEA-B681-8001-670D-24BF504D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EF5B2-4E1E-A945-E8E1-66F980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12</a:t>
            </a:fld>
            <a:endParaRPr lang="zh-TW" altLang="en-US" noProof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DA37B4F-8237-2948-34FD-3594F0FC7324}"/>
              </a:ext>
            </a:extLst>
          </p:cNvPr>
          <p:cNvSpPr txBox="1"/>
          <p:nvPr/>
        </p:nvSpPr>
        <p:spPr>
          <a:xfrm>
            <a:off x="1016002" y="837042"/>
            <a:ext cx="10635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資料標準化（</a:t>
            </a:r>
            <a:r>
              <a:rPr lang="en-US" altLang="zh-TW" sz="2400"/>
              <a:t>Standardization</a:t>
            </a:r>
            <a:r>
              <a:rPr lang="zh-TW" altLang="en-US" sz="2400"/>
              <a:t>）</a:t>
            </a:r>
            <a:endParaRPr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1707136-235F-4582-357E-5DCBE5B75157}"/>
              </a:ext>
            </a:extLst>
          </p:cNvPr>
          <p:cNvSpPr txBox="1"/>
          <p:nvPr/>
        </p:nvSpPr>
        <p:spPr>
          <a:xfrm>
            <a:off x="1016001" y="1790770"/>
            <a:ext cx="10635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K-Means </a:t>
            </a:r>
            <a:r>
              <a:rPr lang="zh-TW" altLang="en-US" dirty="0"/>
              <a:t>常用歐氏距離（</a:t>
            </a:r>
            <a:r>
              <a:rPr lang="en-US" altLang="zh-TW" dirty="0"/>
              <a:t>Euclidean Distance</a:t>
            </a:r>
            <a:r>
              <a:rPr lang="zh-TW" altLang="en-US" dirty="0"/>
              <a:t>）：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AB87873-9B26-0C9D-7433-F80B39F18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721" y="4786937"/>
            <a:ext cx="8695623" cy="1642507"/>
          </a:xfrm>
          <a:prstGeom prst="rect">
            <a:avLst/>
          </a:prstGeom>
          <a:ln w="952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563E2E1-1EC5-F54A-09A7-D5176B6FD482}"/>
              </a:ext>
            </a:extLst>
          </p:cNvPr>
          <p:cNvSpPr txBox="1"/>
          <p:nvPr/>
        </p:nvSpPr>
        <p:spPr>
          <a:xfrm>
            <a:off x="1016001" y="3771150"/>
            <a:ext cx="108220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rgbClr val="FF0000"/>
                </a:solidFill>
              </a:rPr>
              <a:t>可以發現 </a:t>
            </a:r>
            <a:r>
              <a:rPr lang="en-US" altLang="zh-TW" dirty="0">
                <a:solidFill>
                  <a:srgbClr val="FF0000"/>
                </a:solidFill>
              </a:rPr>
              <a:t>RPM </a:t>
            </a:r>
            <a:r>
              <a:rPr lang="zh-TW" altLang="en-US" dirty="0">
                <a:solidFill>
                  <a:srgbClr val="FF0000"/>
                </a:solidFill>
              </a:rPr>
              <a:t>的差異對距離的貢獻遠大於其他特徵，</a:t>
            </a:r>
            <a:r>
              <a:rPr lang="zh-TW" altLang="en-US" dirty="0"/>
              <a:t>因此，即使兩台機器的溫度和震動差異很大，</a:t>
            </a:r>
            <a:r>
              <a:rPr lang="en-US" altLang="zh-TW" dirty="0"/>
              <a:t>K-Means </a:t>
            </a:r>
            <a:r>
              <a:rPr lang="zh-TW" altLang="en-US" dirty="0"/>
              <a:t>仍可能主要依據 </a:t>
            </a:r>
            <a:r>
              <a:rPr lang="en-US" altLang="zh-TW" dirty="0"/>
              <a:t>RPM </a:t>
            </a:r>
            <a:r>
              <a:rPr lang="zh-TW" altLang="en-US" dirty="0"/>
              <a:t>進行分群。</a:t>
            </a:r>
          </a:p>
          <a:p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5FF2AD1-BAE6-FBD2-D476-DE01005F2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660" y="2186996"/>
            <a:ext cx="4679904" cy="158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14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CBEEA-B681-8001-670D-24BF504D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EF5B2-4E1E-A945-E8E1-66F980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13</a:t>
            </a:fld>
            <a:endParaRPr lang="zh-TW" altLang="en-US" noProof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DA37B4F-8237-2948-34FD-3594F0FC7324}"/>
              </a:ext>
            </a:extLst>
          </p:cNvPr>
          <p:cNvSpPr txBox="1"/>
          <p:nvPr/>
        </p:nvSpPr>
        <p:spPr>
          <a:xfrm>
            <a:off x="1016002" y="837042"/>
            <a:ext cx="10635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資料標準化（</a:t>
            </a:r>
            <a:r>
              <a:rPr lang="en-US" altLang="zh-TW" sz="2400"/>
              <a:t>Standardization</a:t>
            </a:r>
            <a:r>
              <a:rPr lang="zh-TW" altLang="en-US" sz="2400"/>
              <a:t>）</a:t>
            </a:r>
            <a:endParaRPr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1707136-235F-4582-357E-5DCBE5B75157}"/>
              </a:ext>
            </a:extLst>
          </p:cNvPr>
          <p:cNvSpPr txBox="1"/>
          <p:nvPr/>
        </p:nvSpPr>
        <p:spPr>
          <a:xfrm>
            <a:off x="1114326" y="1794977"/>
            <a:ext cx="6545003" cy="96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/>
              <a:t>程式碼</a:t>
            </a:r>
            <a:r>
              <a:rPr lang="en-US" altLang="zh-TW" sz="2000" dirty="0"/>
              <a:t>:</a:t>
            </a:r>
            <a:r>
              <a:rPr lang="zh-TW" altLang="en-US" sz="2000" dirty="0"/>
              <a:t> </a:t>
            </a:r>
            <a:r>
              <a:rPr lang="en-US" altLang="zh-TW" sz="2000" dirty="0"/>
              <a:t>scaler = </a:t>
            </a:r>
            <a:r>
              <a:rPr lang="en-US" altLang="zh-TW" sz="2000" dirty="0" err="1"/>
              <a:t>StandardScaler</a:t>
            </a:r>
            <a:r>
              <a:rPr lang="en-US" altLang="zh-TW" sz="2000" dirty="0"/>
              <a:t>()</a:t>
            </a:r>
          </a:p>
          <a:p>
            <a:pPr>
              <a:lnSpc>
                <a:spcPct val="150000"/>
              </a:lnSpc>
            </a:pPr>
            <a:r>
              <a:rPr lang="zh-TW" altLang="en-US" sz="2000" dirty="0"/>
              <a:t>採用 </a:t>
            </a:r>
            <a:r>
              <a:rPr lang="en-US" altLang="zh-TW" sz="2000" dirty="0"/>
              <a:t>Z-score Standardization</a:t>
            </a:r>
            <a:r>
              <a:rPr lang="zh-TW" altLang="en-US" sz="2000" dirty="0"/>
              <a:t>，其公式為：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A13F3E3-66E3-0847-D3E5-749214055C36}"/>
              </a:ext>
            </a:extLst>
          </p:cNvPr>
          <p:cNvSpPr txBox="1"/>
          <p:nvPr/>
        </p:nvSpPr>
        <p:spPr>
          <a:xfrm>
            <a:off x="5643716" y="2974258"/>
            <a:ext cx="641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TW" dirty="0"/>
              <a:t> 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59DE0FC-B2B9-2548-AC01-78EE46BAB89A}"/>
                  </a:ext>
                </a:extLst>
              </p:cNvPr>
              <p:cNvSpPr txBox="1"/>
              <p:nvPr/>
            </p:nvSpPr>
            <p:spPr>
              <a:xfrm>
                <a:off x="2635045" y="2974258"/>
                <a:ext cx="2147990" cy="685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2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TW" altLang="en-US" sz="26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zh-TW" altLang="en-US" sz="26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59DE0FC-B2B9-2548-AC01-78EE46BAB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045" y="2974258"/>
                <a:ext cx="2147990" cy="6853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4BDAC0B-1EF8-2629-C46F-932A022672B0}"/>
                  </a:ext>
                </a:extLst>
              </p:cNvPr>
              <p:cNvSpPr txBox="1"/>
              <p:nvPr/>
            </p:nvSpPr>
            <p:spPr>
              <a:xfrm>
                <a:off x="1114326" y="3778261"/>
                <a:ext cx="5404904" cy="1885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000" dirty="0"/>
                  <a:t>：原始資料</a:t>
                </a:r>
                <a:endParaRPr lang="en-US" altLang="zh-TW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TW" altLang="en-US" sz="2000" dirty="0"/>
                  <a:t>：該特徵的平均值（</a:t>
                </a:r>
                <a:r>
                  <a:rPr lang="en-US" altLang="zh-TW" sz="2000" dirty="0"/>
                  <a:t>Mean</a:t>
                </a:r>
                <a:r>
                  <a:rPr lang="zh-TW" altLang="en-US" sz="2000" dirty="0"/>
                  <a:t>）</a:t>
                </a:r>
                <a:endParaRPr lang="en-US" altLang="zh-TW" sz="2000" dirty="0"/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/>
                  <a:t>𝜎：該特徵的標準差（</a:t>
                </a:r>
                <a:r>
                  <a:rPr lang="en-US" altLang="zh-TW" sz="2000" dirty="0"/>
                  <a:t>Standard Deviation</a:t>
                </a:r>
                <a:r>
                  <a:rPr lang="zh-TW" altLang="en-US" sz="2000" dirty="0"/>
                  <a:t>）</a:t>
                </a:r>
                <a:endParaRPr lang="en-US" altLang="zh-TW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000" dirty="0"/>
                  <a:t>：標準化後的數值</a:t>
                </a:r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4BDAC0B-1EF8-2629-C46F-932A02267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326" y="3778261"/>
                <a:ext cx="5404904" cy="1885068"/>
              </a:xfrm>
              <a:prstGeom prst="rect">
                <a:avLst/>
              </a:prstGeom>
              <a:blipFill>
                <a:blip r:embed="rId3"/>
                <a:stretch>
                  <a:fillRect l="-1242" b="-48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03262846-03F9-3104-B703-B586678E34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/>
          <a:stretch/>
        </p:blipFill>
        <p:spPr>
          <a:xfrm>
            <a:off x="6866304" y="225761"/>
            <a:ext cx="3634242" cy="313843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0F5BF299-7A0C-5A46-2EA0-31286CFBC3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/>
          <a:stretch/>
        </p:blipFill>
        <p:spPr>
          <a:xfrm>
            <a:off x="6949915" y="3429000"/>
            <a:ext cx="3634241" cy="313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82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7CBEEA-B681-8001-670D-24BF504D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noProof="0"/>
              <a:t>會議簡報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EF5B2-4E1E-A945-E8E1-66F9809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altLang="zh-TW" noProof="0" smtClean="0"/>
              <a:pPr/>
              <a:t>14</a:t>
            </a:fld>
            <a:endParaRPr lang="zh-TW" altLang="en-US" noProof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DA37B4F-8237-2948-34FD-3594F0FC7324}"/>
              </a:ext>
            </a:extLst>
          </p:cNvPr>
          <p:cNvSpPr txBox="1"/>
          <p:nvPr/>
        </p:nvSpPr>
        <p:spPr>
          <a:xfrm>
            <a:off x="1016002" y="837042"/>
            <a:ext cx="10635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Standardization: Before vs After</a:t>
            </a:r>
            <a:r>
              <a:rPr lang="zh-TW" altLang="en-US" sz="2400" dirty="0"/>
              <a:t> 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A13F3E3-66E3-0847-D3E5-749214055C36}"/>
              </a:ext>
            </a:extLst>
          </p:cNvPr>
          <p:cNvSpPr txBox="1"/>
          <p:nvPr/>
        </p:nvSpPr>
        <p:spPr>
          <a:xfrm>
            <a:off x="5751871" y="3121742"/>
            <a:ext cx="641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4A00FCD-A39F-98EC-3307-D0FFD3326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869" y="2002532"/>
            <a:ext cx="2879670" cy="3417838"/>
          </a:xfrm>
          <a:prstGeom prst="rect">
            <a:avLst/>
          </a:prstGeom>
        </p:spPr>
      </p:pic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8FDB9526-D3AE-BECC-F4D5-9F8B92AF9975}"/>
              </a:ext>
            </a:extLst>
          </p:cNvPr>
          <p:cNvSpPr/>
          <p:nvPr/>
        </p:nvSpPr>
        <p:spPr>
          <a:xfrm>
            <a:off x="4984955" y="3480619"/>
            <a:ext cx="440507" cy="461665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6E65237E-3F0D-7C5B-4B7A-0D73D03BD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083" y="2010966"/>
            <a:ext cx="2790298" cy="3400969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944D608E-6114-7ED9-7942-387B276E4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673" y="1781766"/>
            <a:ext cx="3461295" cy="4321036"/>
          </a:xfrm>
          <a:prstGeom prst="rect">
            <a:avLst/>
          </a:prstGeom>
          <a:ln w="63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17726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59945386_TF78544816_Win32" id="{9E63F1E3-28E5-483A-B659-61289534B460}" vid="{AD1DE065-60B4-4853-9CC3-BCBE3EC4F98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1DE3569-F02A-48B1-8F6E-F11E8BF870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C34B31-7353-4357-814E-0E5916A110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9B3369-3F0F-499C-9EE7-8EC46B6E8A7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新式會議簡報</Template>
  <TotalTime>690</TotalTime>
  <Words>599</Words>
  <Application>Microsoft Office PowerPoint</Application>
  <PresentationFormat>寬螢幕</PresentationFormat>
  <Paragraphs>64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Microsoft JhengHei UI</vt:lpstr>
      <vt:lpstr>Microsoft JhengHei UI Light</vt:lpstr>
      <vt:lpstr>sohne</vt:lpstr>
      <vt:lpstr>source-serif-pro</vt:lpstr>
      <vt:lpstr>Arial</vt:lpstr>
      <vt:lpstr>Cambria Math</vt:lpstr>
      <vt:lpstr>Office 佈景主題</vt:lpstr>
      <vt:lpstr>PowerPoint 簡報</vt:lpstr>
      <vt:lpstr>PowerPoint 簡報</vt:lpstr>
      <vt:lpstr>PowerPoint 簡報</vt:lpstr>
      <vt:lpstr>參考文章: https://medium.com/@jason8410271027/%E5%AD%B8%E7%BF%92%E7%AD%86%E8%A8%98-k-means%E7%90%86%E8%AB%96%E7%AF%87-40e0ae506e1b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KAI-HSIANG CHUANG</dc:creator>
  <cp:lastModifiedBy>KAI-HSIANG CHUANG</cp:lastModifiedBy>
  <cp:revision>13</cp:revision>
  <dcterms:created xsi:type="dcterms:W3CDTF">2026-08-19T04:14:59Z</dcterms:created>
  <dcterms:modified xsi:type="dcterms:W3CDTF">2026-10-13T04:48:29Z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