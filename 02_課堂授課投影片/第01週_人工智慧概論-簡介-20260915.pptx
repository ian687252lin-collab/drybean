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1" r:id="rId7"/>
    <p:sldId id="272" r:id="rId8"/>
    <p:sldId id="273" r:id="rId9"/>
    <p:sldId id="275" r:id="rId10"/>
    <p:sldId id="276" r:id="rId11"/>
    <p:sldId id="277" r:id="rId12"/>
    <p:sldId id="279" r:id="rId13"/>
    <p:sldId id="280" r:id="rId14"/>
    <p:sldId id="281" r:id="rId15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81674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40" y="16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0364D4E-7422-40C5-B104-A8045DE1D334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2026/9/29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AC623C-86E0-4A85-83FB-F4A716956FD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08CA673-C202-4825-8824-38BE53AF95B4}" type="datetime1">
              <a:rPr lang="zh-TW" altLang="en-US" noProof="0" smtClean="0"/>
              <a:t>2026/9/29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37D7554-D10C-4E29-B8E6-BB7111FA614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ilton-computing.org.uk/inf/literature/reports/lighthill_report/p001.ht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ojs.aaai.org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3086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zh-TW" altLang="en-US" dirty="0"/>
              <a:t>兩次 </a:t>
            </a:r>
            <a:r>
              <a:rPr lang="en-US" altLang="zh-TW" dirty="0"/>
              <a:t>AI </a:t>
            </a:r>
            <a:r>
              <a:rPr lang="zh-TW" altLang="en-US" dirty="0"/>
              <a:t>寒冬都不是由單一事件造成，而是共同遵循一個模式：</a:t>
            </a:r>
          </a:p>
          <a:p>
            <a:r>
              <a:rPr lang="zh-TW" altLang="en-US" dirty="0"/>
              <a:t>過度期待 → 技術無法處理真實世界問題 → 投資與研究經費縮減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b="1" dirty="0"/>
              <a:t>第一次 </a:t>
            </a:r>
            <a:r>
              <a:rPr lang="en-US" altLang="zh-TW" b="1" dirty="0"/>
              <a:t>AI </a:t>
            </a:r>
            <a:r>
              <a:rPr lang="zh-TW" altLang="en-US" b="1" dirty="0"/>
              <a:t>寒冬：約 </a:t>
            </a:r>
            <a:r>
              <a:rPr lang="en-US" altLang="zh-TW" b="1" dirty="0"/>
              <a:t>1970 </a:t>
            </a:r>
            <a:r>
              <a:rPr lang="zh-TW" altLang="en-US" b="1" dirty="0"/>
              <a:t>年代</a:t>
            </a:r>
          </a:p>
          <a:p>
            <a:r>
              <a:rPr lang="zh-TW" altLang="en-US" dirty="0"/>
              <a:t>最關鍵原因是：</a:t>
            </a:r>
            <a:r>
              <a:rPr lang="zh-TW" altLang="en-US" b="1" dirty="0"/>
              <a:t>規則搜尋遇到「組合爆炸」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第一波 </a:t>
            </a:r>
            <a:r>
              <a:rPr lang="en-US" altLang="zh-TW" dirty="0"/>
              <a:t>AI </a:t>
            </a:r>
            <a:r>
              <a:rPr lang="zh-TW" altLang="en-US" dirty="0"/>
              <a:t>主要依賴符號邏輯、規則與搜尋。它可以處理西洋棋、迷宮等規則明確且範圍有限的問題；但一旦情境與可能選項增加，需要搜尋的路徑便呈指數成長。</a:t>
            </a:r>
          </a:p>
          <a:p>
            <a:r>
              <a:rPr lang="zh-TW" altLang="en-US" dirty="0"/>
              <a:t>例如，每一步有 </a:t>
            </a:r>
            <a:r>
              <a:rPr lang="en-US" altLang="zh-TW" dirty="0"/>
              <a:t>10 </a:t>
            </a:r>
            <a:r>
              <a:rPr lang="zh-TW" altLang="en-US" dirty="0"/>
              <a:t>種選擇、連續判斷 </a:t>
            </a:r>
            <a:r>
              <a:rPr lang="en-US" altLang="zh-TW" dirty="0"/>
              <a:t>10 </a:t>
            </a:r>
            <a:r>
              <a:rPr lang="zh-TW" altLang="en-US" dirty="0"/>
              <a:t>步，就可能產生：</a:t>
            </a:r>
          </a:p>
          <a:p>
            <a:r>
              <a:rPr lang="en-US" altLang="zh-TW" dirty="0"/>
              <a:t>1010=100</a:t>
            </a:r>
            <a:r>
              <a:rPr lang="zh-TW" altLang="en-US" dirty="0"/>
              <a:t>億</a:t>
            </a:r>
            <a:r>
              <a:rPr lang="en-US" altLang="zh-TW" dirty="0"/>
              <a:t>10^{10}=100</a:t>
            </a:r>
            <a:r>
              <a:rPr lang="zh-TW" altLang="en-US" dirty="0"/>
              <a:t>億條搜尋路徑。</a:t>
            </a:r>
          </a:p>
          <a:p>
            <a:r>
              <a:rPr lang="zh-TW" altLang="en-US" dirty="0"/>
              <a:t>當時又受限於：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電腦運算能力與記憶體不足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缺乏大量數位資料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AI </a:t>
            </a:r>
            <a:r>
              <a:rPr lang="zh-TW" altLang="en-US" dirty="0"/>
              <a:t>缺乏常識，難以理解真實世界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機器翻譯、機器人與語言理解未達到承諾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政府認為成果不如預期，開始削減經費</a:t>
            </a:r>
          </a:p>
          <a:p>
            <a:r>
              <a:rPr lang="en-US" altLang="zh-TW" dirty="0"/>
              <a:t>1973 </a:t>
            </a:r>
            <a:r>
              <a:rPr lang="zh-TW" altLang="en-US" dirty="0"/>
              <a:t>年英國的 </a:t>
            </a:r>
            <a:r>
              <a:rPr lang="en-US" altLang="zh-TW" dirty="0" err="1"/>
              <a:t>Lighthill</a:t>
            </a:r>
            <a:r>
              <a:rPr lang="en-US" altLang="zh-TW" dirty="0"/>
              <a:t> Report </a:t>
            </a:r>
            <a:r>
              <a:rPr lang="zh-TW" altLang="en-US" dirty="0"/>
              <a:t>特別批評 </a:t>
            </a:r>
            <a:r>
              <a:rPr lang="en-US" altLang="zh-TW" dirty="0"/>
              <a:t>AI </a:t>
            </a:r>
            <a:r>
              <a:rPr lang="zh-TW" altLang="en-US" dirty="0"/>
              <a:t>無法克服組合爆炸，只能解決規模較小的「玩具問題」，促使英國大幅縮減 </a:t>
            </a:r>
            <a:r>
              <a:rPr lang="en-US" altLang="zh-TW" dirty="0"/>
              <a:t>AI </a:t>
            </a:r>
            <a:r>
              <a:rPr lang="zh-TW" altLang="en-US" dirty="0"/>
              <a:t>研究支持。</a:t>
            </a:r>
            <a:r>
              <a:rPr lang="en-US" altLang="zh-TW" dirty="0" err="1">
                <a:hlinkClick r:id="rId3"/>
              </a:rPr>
              <a:t>Lighthill</a:t>
            </a:r>
            <a:r>
              <a:rPr lang="en-US" altLang="zh-TW" dirty="0">
                <a:hlinkClick r:id="rId3"/>
              </a:rPr>
              <a:t> Report </a:t>
            </a:r>
            <a:r>
              <a:rPr lang="zh-TW" altLang="en-US" dirty="0">
                <a:hlinkClick r:id="rId3"/>
              </a:rPr>
              <a:t>原始資料</a:t>
            </a:r>
            <a:endParaRPr lang="zh-TW" altLang="en-US" dirty="0"/>
          </a:p>
          <a:p>
            <a:r>
              <a:rPr lang="zh-TW" altLang="en-US" dirty="0"/>
              <a:t>一句話總結：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b="1" dirty="0"/>
              <a:t>第一波 </a:t>
            </a:r>
            <a:r>
              <a:rPr lang="en-US" altLang="zh-TW" b="1" dirty="0"/>
              <a:t>AI </a:t>
            </a:r>
            <a:r>
              <a:rPr lang="zh-TW" altLang="en-US" b="1" dirty="0"/>
              <a:t>寒冬：電腦能按照規則思考，但規則與可能情況一多，就算不完了。</a:t>
            </a:r>
            <a:endParaRPr lang="zh-TW" altLang="en-US" dirty="0"/>
          </a:p>
          <a:p>
            <a:r>
              <a:rPr lang="zh-TW" altLang="en-US" b="1" dirty="0"/>
              <a:t>第二次 </a:t>
            </a:r>
            <a:r>
              <a:rPr lang="en-US" altLang="zh-TW" b="1" dirty="0"/>
              <a:t>AI </a:t>
            </a:r>
            <a:r>
              <a:rPr lang="zh-TW" altLang="en-US" b="1" dirty="0"/>
              <a:t>寒冬：約 </a:t>
            </a:r>
            <a:r>
              <a:rPr lang="en-US" altLang="zh-TW" b="1" dirty="0"/>
              <a:t>1980 </a:t>
            </a:r>
            <a:r>
              <a:rPr lang="zh-TW" altLang="en-US" b="1" dirty="0"/>
              <a:t>年代末至</a:t>
            </a:r>
            <a:r>
              <a:rPr lang="en-US" altLang="zh-TW" b="1" dirty="0"/>
              <a:t>1990</a:t>
            </a:r>
            <a:r>
              <a:rPr lang="zh-TW" altLang="en-US" b="1" dirty="0"/>
              <a:t>年代</a:t>
            </a:r>
          </a:p>
          <a:p>
            <a:r>
              <a:rPr lang="zh-TW" altLang="en-US" dirty="0"/>
              <a:t>最關鍵原因是：</a:t>
            </a:r>
            <a:r>
              <a:rPr lang="zh-TW" altLang="en-US" b="1" dirty="0"/>
              <a:t>專家系統昂貴、脆弱，而且難以維護與擴充。</a:t>
            </a:r>
            <a:endParaRPr lang="zh-TW" altLang="en-US" dirty="0"/>
          </a:p>
          <a:p>
            <a:r>
              <a:rPr lang="zh-TW" altLang="en-US" dirty="0"/>
              <a:t>第二波 </a:t>
            </a:r>
            <a:r>
              <a:rPr lang="en-US" altLang="zh-TW" dirty="0"/>
              <a:t>AI </a:t>
            </a:r>
            <a:r>
              <a:rPr lang="zh-TW" altLang="en-US" dirty="0"/>
              <a:t>的代表是專家系統。工程師先訪問專家，再將其知識寫成大量的：</a:t>
            </a:r>
          </a:p>
          <a:p>
            <a:r>
              <a:rPr lang="en-US" altLang="zh-TW" dirty="0"/>
              <a:t>IF </a:t>
            </a:r>
            <a:r>
              <a:rPr lang="zh-TW" altLang="en-US" dirty="0"/>
              <a:t>條件成立，</a:t>
            </a:r>
            <a:r>
              <a:rPr lang="en-US" altLang="zh-TW" dirty="0"/>
              <a:t>THEN </a:t>
            </a:r>
            <a:r>
              <a:rPr lang="zh-TW" altLang="en-US" dirty="0"/>
              <a:t>採取某個結論。</a:t>
            </a:r>
          </a:p>
          <a:p>
            <a:r>
              <a:rPr lang="zh-TW" altLang="en-US" dirty="0"/>
              <a:t>它在狹窄、明確的專業範圍內可以表現良好，但實際使用時出現許多問題：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專家很難完整說出自己的經驗與直覺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建立知識庫耗費大量時間與成本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規則愈多，彼此愈容易衝突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情況稍微改變，就可能需要重寫規則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無法自行從資料中持續學習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專用 </a:t>
            </a:r>
            <a:r>
              <a:rPr lang="en-US" altLang="zh-TW" dirty="0"/>
              <a:t>AI</a:t>
            </a:r>
            <a:r>
              <a:rPr lang="zh-TW" altLang="en-US" dirty="0"/>
              <a:t>／</a:t>
            </a:r>
            <a:r>
              <a:rPr lang="en-US" altLang="zh-TW" dirty="0"/>
              <a:t>Lisp </a:t>
            </a:r>
            <a:r>
              <a:rPr lang="zh-TW" altLang="en-US" dirty="0"/>
              <a:t>工作站昂貴，後來又被較便宜的通用電腦取代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日本第五代電腦計畫等大型計畫未達到原先的宏大目標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企業發現投資報酬不如預期，市場與資金快速退潮</a:t>
            </a:r>
          </a:p>
          <a:p>
            <a:r>
              <a:rPr lang="zh-TW" altLang="en-US" dirty="0"/>
              <a:t>日本第五代電腦計畫於</a:t>
            </a:r>
            <a:r>
              <a:rPr lang="en-US" altLang="zh-TW" dirty="0"/>
              <a:t>1982</a:t>
            </a:r>
            <a:r>
              <a:rPr lang="zh-TW" altLang="en-US" dirty="0"/>
              <a:t>年啟動，希望以邏輯程式設計與平行運算建立新一代智慧電腦，但最終未能實現原先期望的通用智慧與商業效益。</a:t>
            </a:r>
            <a:r>
              <a:rPr lang="en-US" altLang="zh-TW" dirty="0">
                <a:hlinkClick r:id="rId4"/>
              </a:rPr>
              <a:t>AAAI</a:t>
            </a:r>
            <a:r>
              <a:rPr lang="zh-TW" altLang="en-US" dirty="0">
                <a:hlinkClick r:id="rId4"/>
              </a:rPr>
              <a:t>：</a:t>
            </a:r>
            <a:r>
              <a:rPr lang="en-US" altLang="zh-TW" dirty="0">
                <a:hlinkClick r:id="rId4"/>
              </a:rPr>
              <a:t>Fifth Generation Project</a:t>
            </a:r>
            <a:endParaRPr lang="zh-TW" altLang="en-US" dirty="0"/>
          </a:p>
          <a:p>
            <a:r>
              <a:rPr lang="zh-TW" altLang="en-US" dirty="0"/>
              <a:t>一句話總結：</a:t>
            </a:r>
          </a:p>
          <a:p>
            <a:r>
              <a:rPr lang="zh-TW" altLang="en-US" b="1" dirty="0"/>
              <a:t>第二波 </a:t>
            </a:r>
            <a:r>
              <a:rPr lang="en-US" altLang="zh-TW" b="1" dirty="0"/>
              <a:t>AI </a:t>
            </a:r>
            <a:r>
              <a:rPr lang="zh-TW" altLang="en-US" b="1" dirty="0"/>
              <a:t>寒冬：人類可以把專家規則教給電腦，但規則太難取得、太貴維護，也無法適應新情況。</a:t>
            </a:r>
            <a:endParaRPr lang="zh-TW" altLang="en-US" dirty="0"/>
          </a:p>
          <a:p>
            <a:r>
              <a:rPr lang="zh-TW" altLang="en-US" b="1" dirty="0"/>
              <a:t>課堂上可用的對照</a:t>
            </a:r>
          </a:p>
          <a:p>
            <a:r>
              <a:rPr lang="zh-TW" altLang="en-US" dirty="0"/>
              <a:t>寒冬期主要技術核心問題簡單說法第一次邏輯、規則搜尋組合爆炸與運算能力不足「可能性太多，算不完」第二次專家系統、知識庫知識取得困難、系統脆弱、成本過高「規則太多，寫不完也維護不了」而第三波 </a:t>
            </a:r>
            <a:r>
              <a:rPr lang="en-US" altLang="zh-TW" dirty="0"/>
              <a:t>AI </a:t>
            </a:r>
            <a:r>
              <a:rPr lang="zh-TW" altLang="en-US" dirty="0"/>
              <a:t>能重新崛起，正是因為改變了思路：</a:t>
            </a:r>
          </a:p>
          <a:p>
            <a:r>
              <a:rPr lang="zh-TW" altLang="en-US" dirty="0"/>
              <a:t>不再只靠人類寫下所有規則，而是讓電腦從大量資料中自行學習規律。</a:t>
            </a:r>
          </a:p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8835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3835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7425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8016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6383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7763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7565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1020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8599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5C9C5B-BBA9-42AB-806E-92FC22E19CBA}"/>
              </a:ext>
            </a:extLst>
          </p:cNvPr>
          <p:cNvSpPr/>
          <p:nvPr userDrawn="1"/>
        </p:nvSpPr>
        <p:spPr>
          <a:xfrm>
            <a:off x="-1" y="0"/>
            <a:ext cx="903746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AF30CF48-DD5D-4C81-BA7E-470DCBA61E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76500" y="622103"/>
            <a:ext cx="9715500" cy="372092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cxnSp>
        <p:nvCxnSpPr>
          <p:cNvPr id="15" name="直線接點​​(S) 14">
            <a:extLst>
              <a:ext uri="{FF2B5EF4-FFF2-40B4-BE49-F238E27FC236}">
                <a16:creationId xmlns:a16="http://schemas.microsoft.com/office/drawing/2014/main" id="{E7E08E4E-686B-490D-8EA1-DDC9F1BC7C24}"/>
              </a:ext>
            </a:extLst>
          </p:cNvPr>
          <p:cNvCxnSpPr>
            <a:cxnSpLocks/>
          </p:cNvCxnSpPr>
          <p:nvPr userDrawn="1"/>
        </p:nvCxnSpPr>
        <p:spPr>
          <a:xfrm>
            <a:off x="739466" y="0"/>
            <a:ext cx="0" cy="618773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版面配置區 12">
            <a:extLst>
              <a:ext uri="{FF2B5EF4-FFF2-40B4-BE49-F238E27FC236}">
                <a16:creationId xmlns:a16="http://schemas.microsoft.com/office/drawing/2014/main" id="{C78B2B3F-3573-4632-872A-ADB36AF41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9337" y="5779363"/>
            <a:ext cx="2459114" cy="68543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18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2" name="文字版面配置區 12">
            <a:extLst>
              <a:ext uri="{FF2B5EF4-FFF2-40B4-BE49-F238E27FC236}">
                <a16:creationId xmlns:a16="http://schemas.microsoft.com/office/drawing/2014/main" id="{6FF5EE2F-D68A-4C3C-A342-4C0CE6CE2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99663" y="5791178"/>
            <a:ext cx="2459114" cy="685429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52DB723-8435-4F35-BF55-AFB7DC8F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205" y="4965134"/>
            <a:ext cx="4333088" cy="1596004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80000"/>
              </a:lnSpc>
              <a:defRPr sz="50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按一下以新增標題</a:t>
            </a:r>
          </a:p>
        </p:txBody>
      </p:sp>
    </p:spTree>
    <p:extLst>
      <p:ext uri="{BB962C8B-B14F-4D97-AF65-F5344CB8AC3E}">
        <p14:creationId xmlns:p14="http://schemas.microsoft.com/office/powerpoint/2010/main" val="216758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FF5ED5F1-A62B-4555-807E-91FAE1443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9D60F5-07EA-4D8F-AAFA-0F48CB78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ED4C42-D293-4981-BA06-A4638BE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3E9D98-F221-47DC-AE55-8165BB7A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94C3D64C-77F6-4601-B573-9A9B6E23BB6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675242" y="2051170"/>
            <a:ext cx="5362575" cy="35321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BCD17CD-E6D2-4329-B271-1E59AA9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8368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認識簡報者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10">
            <a:extLst>
              <a:ext uri="{FF2B5EF4-FFF2-40B4-BE49-F238E27FC236}">
                <a16:creationId xmlns:a16="http://schemas.microsoft.com/office/drawing/2014/main" id="{CD5AE0D9-6B20-4F29-A35B-2A00C25FF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82906" y="0"/>
            <a:ext cx="4635426" cy="685799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CC56C8-D828-4A31-A5B9-CF1AEFA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71846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B0264-B3C3-46A0-80DD-67C59DB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5D3C3B-0FFE-494C-B4AC-477B6A9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文字版面配置區 12">
            <a:extLst>
              <a:ext uri="{FF2B5EF4-FFF2-40B4-BE49-F238E27FC236}">
                <a16:creationId xmlns:a16="http://schemas.microsoft.com/office/drawing/2014/main" id="{1285A10A-1880-4D4E-A99B-1C19043F2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0189" y="1712545"/>
            <a:ext cx="3266975" cy="3266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按一下以新增姓名</a:t>
            </a:r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24F1FC7-2617-499A-8CB8-B61FC7D9B7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9508" y="2756830"/>
            <a:ext cx="4834569" cy="238419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3" name="直線接點​​(S) 12">
            <a:extLst>
              <a:ext uri="{FF2B5EF4-FFF2-40B4-BE49-F238E27FC236}">
                <a16:creationId xmlns:a16="http://schemas.microsoft.com/office/drawing/2014/main" id="{0B169A36-7DEF-42D4-850F-59A3233F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834" y="0"/>
            <a:ext cx="0" cy="27574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6CADB6D5-97B3-42ED-B8C7-5AD951CB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34009" y="1867658"/>
            <a:ext cx="445799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A9B7B60A-1B6C-4E40-94D7-AE1BD371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0973" y="4189152"/>
            <a:ext cx="3121302" cy="46947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348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BFE3E-14BB-4DC6-A806-1E62C1D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137" y="1360309"/>
            <a:ext cx="2909309" cy="657882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8" name="圖片版面配置區 10">
            <a:extLst>
              <a:ext uri="{FF2B5EF4-FFF2-40B4-BE49-F238E27FC236}">
                <a16:creationId xmlns:a16="http://schemas.microsoft.com/office/drawing/2014/main" id="{EFD7EF65-6DE9-4029-B3A0-F08E11BC9E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95752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123B9F8E-DAD6-45B2-B55B-B070484318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1075509"/>
            <a:ext cx="529326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CF9177-0C51-4496-B5AE-7ED4F8F3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7A035F-C837-4CCA-BB19-CE656F05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E2F927-F23D-4ABB-BEC9-11C2CC6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95244728-2BE1-4CB4-A19E-903E75BD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7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組問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B0109947-4B08-4C56-B65B-A6FDFEF47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510815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C387A38D-E82D-42F1-A188-30F49DD5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785" y="0"/>
            <a:ext cx="0" cy="2514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圖片版面配置區 10">
            <a:extLst>
              <a:ext uri="{FF2B5EF4-FFF2-40B4-BE49-F238E27FC236}">
                <a16:creationId xmlns:a16="http://schemas.microsoft.com/office/drawing/2014/main" id="{1205ABD4-5AFD-4B99-8836-D12AA42FC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2510" y="0"/>
            <a:ext cx="7609489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080A53F-EFDF-40A3-B9E3-58EB0D3F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4" name="內容版面配置區 15">
            <a:extLst>
              <a:ext uri="{FF2B5EF4-FFF2-40B4-BE49-F238E27FC236}">
                <a16:creationId xmlns:a16="http://schemas.microsoft.com/office/drawing/2014/main" id="{F547C10E-8A59-4B22-ADF0-994850F759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17111" y="2906895"/>
            <a:ext cx="4606159" cy="222129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頁尾版面配置區 4">
            <a:extLst>
              <a:ext uri="{FF2B5EF4-FFF2-40B4-BE49-F238E27FC236}">
                <a16:creationId xmlns:a16="http://schemas.microsoft.com/office/drawing/2014/main" id="{79DE00E7-8296-408A-905C-ECBA407C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6" name="投影片編號版面配置區 5">
            <a:extLst>
              <a:ext uri="{FF2B5EF4-FFF2-40B4-BE49-F238E27FC236}">
                <a16:creationId xmlns:a16="http://schemas.microsoft.com/office/drawing/2014/main" id="{900B3723-B30F-4BDB-A030-4B06ADE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E4FA9AB-9D34-43A5-947E-835D7FE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2225678"/>
            <a:ext cx="4607268" cy="469476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452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圖片版面配置區 10">
            <a:extLst>
              <a:ext uri="{FF2B5EF4-FFF2-40B4-BE49-F238E27FC236}">
                <a16:creationId xmlns:a16="http://schemas.microsoft.com/office/drawing/2014/main" id="{840FD269-E069-45DA-B668-BE984BFA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B9DE71-7B7A-4473-ABD8-99575CAF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AA1C9B-284B-4C89-8743-52285AC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C1FE06-5B3A-40E2-82AA-E4516ED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版面配置區 12">
            <a:extLst>
              <a:ext uri="{FF2B5EF4-FFF2-40B4-BE49-F238E27FC236}">
                <a16:creationId xmlns:a16="http://schemas.microsoft.com/office/drawing/2014/main" id="{2ACE5847-B709-473D-A366-54ADA852F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107" y="3055535"/>
            <a:ext cx="7981786" cy="2609103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3200" i="1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按一下以新增標題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8B1850-15F7-414E-B8F6-3A5B3D10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083" y="5448575"/>
            <a:ext cx="4881563" cy="463550"/>
          </a:xfrm>
          <a:prstGeom prst="rect">
            <a:avLst/>
          </a:prstGeom>
        </p:spPr>
        <p:txBody>
          <a:bodyPr rtlCol="0"/>
          <a:lstStyle>
            <a:lvl1pPr algn="r">
              <a:defRPr lang="en-US" sz="18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marL="0" lvl="0" indent="0" algn="r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00056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假設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0796CDC-3154-4ACA-A920-8CBE431C2A1A}"/>
              </a:ext>
            </a:extLst>
          </p:cNvPr>
          <p:cNvSpPr/>
          <p:nvPr userDrawn="1"/>
        </p:nvSpPr>
        <p:spPr>
          <a:xfrm>
            <a:off x="0" y="0"/>
            <a:ext cx="468761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5FA8B4-F9F3-4FF5-B11F-483A1B95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7B8F04-28A5-462E-86DE-06C37E4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8B2DAE-4645-4AA0-87C9-39874FD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3BB9146A-68F5-433B-8411-A12C7C8F78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7641" y="1193612"/>
            <a:ext cx="3513083" cy="140050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70974D-DE65-42B3-BEB4-235503245B26}"/>
              </a:ext>
            </a:extLst>
          </p:cNvPr>
          <p:cNvSpPr/>
          <p:nvPr userDrawn="1"/>
        </p:nvSpPr>
        <p:spPr>
          <a:xfrm>
            <a:off x="6360072" y="924801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5BA888A7-F91E-4923-AB10-31BEF8C2FEB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47641" y="4120055"/>
            <a:ext cx="3513083" cy="118583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803CCC-79BF-4752-81AA-D68AB023A6B6}"/>
              </a:ext>
            </a:extLst>
          </p:cNvPr>
          <p:cNvSpPr/>
          <p:nvPr userDrawn="1"/>
        </p:nvSpPr>
        <p:spPr>
          <a:xfrm>
            <a:off x="6360072" y="3584028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6ECBC35A-FE4E-467A-A20D-9063B371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03095" y="0"/>
            <a:ext cx="0" cy="370473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1">
            <a:extLst>
              <a:ext uri="{FF2B5EF4-FFF2-40B4-BE49-F238E27FC236}">
                <a16:creationId xmlns:a16="http://schemas.microsoft.com/office/drawing/2014/main" id="{A4FC0018-1CBF-4BC0-BE79-B983651D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005213" y="4932422"/>
            <a:ext cx="2635209" cy="52370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274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訊工具的百分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06ACE2-BA16-48C7-A451-845668BC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9B479B-4CEB-47DB-903C-2E2D2445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6F2130-E7AA-4706-B388-47F7E032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311573-5DB1-44CE-818B-9E5F570408F1}"/>
              </a:ext>
            </a:extLst>
          </p:cNvPr>
          <p:cNvSpPr/>
          <p:nvPr userDrawn="1"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9" name="內容版面配置區 15">
            <a:extLst>
              <a:ext uri="{FF2B5EF4-FFF2-40B4-BE49-F238E27FC236}">
                <a16:creationId xmlns:a16="http://schemas.microsoft.com/office/drawing/2014/main" id="{6E328664-C733-476A-81C6-2A0B15B001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29158" y="2838122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內容版面配置區 15">
            <a:extLst>
              <a:ext uri="{FF2B5EF4-FFF2-40B4-BE49-F238E27FC236}">
                <a16:creationId xmlns:a16="http://schemas.microsoft.com/office/drawing/2014/main" id="{4DA6C57C-E2CB-484E-94E6-9AB8DC7DB4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29158" y="3379435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內容版面配置區 15">
            <a:extLst>
              <a:ext uri="{FF2B5EF4-FFF2-40B4-BE49-F238E27FC236}">
                <a16:creationId xmlns:a16="http://schemas.microsoft.com/office/drawing/2014/main" id="{97E74E6E-CDEF-424A-B7CE-5B34A0AC34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9158" y="3928699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內容版面配置區 15">
            <a:extLst>
              <a:ext uri="{FF2B5EF4-FFF2-40B4-BE49-F238E27FC236}">
                <a16:creationId xmlns:a16="http://schemas.microsoft.com/office/drawing/2014/main" id="{E7A1AA76-7517-4C53-B2A4-EE8B1C6ADDD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029158" y="4476966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2">
            <a:extLst>
              <a:ext uri="{FF2B5EF4-FFF2-40B4-BE49-F238E27FC236}">
                <a16:creationId xmlns:a16="http://schemas.microsoft.com/office/drawing/2014/main" id="{273C9D83-2282-43F4-BB54-7CDA96B455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8588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 dirty="0"/>
              <a:t>#</a:t>
            </a:r>
          </a:p>
        </p:txBody>
      </p:sp>
      <p:sp>
        <p:nvSpPr>
          <p:cNvPr id="38" name="文字版面配置區 12">
            <a:extLst>
              <a:ext uri="{FF2B5EF4-FFF2-40B4-BE49-F238E27FC236}">
                <a16:creationId xmlns:a16="http://schemas.microsoft.com/office/drawing/2014/main" id="{90C1AC4A-23E9-4676-A30E-E39B4342F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8588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39" name="文字版面配置區 12">
            <a:extLst>
              <a:ext uri="{FF2B5EF4-FFF2-40B4-BE49-F238E27FC236}">
                <a16:creationId xmlns:a16="http://schemas.microsoft.com/office/drawing/2014/main" id="{2C256BCC-FED6-4D75-8C65-5967DD2E01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3309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40" name="文字版面配置區 12">
            <a:extLst>
              <a:ext uri="{FF2B5EF4-FFF2-40B4-BE49-F238E27FC236}">
                <a16:creationId xmlns:a16="http://schemas.microsoft.com/office/drawing/2014/main" id="{036A0378-B8F0-463A-A66D-83D798223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3309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BDF22D-6760-4BDD-92EF-E940DCC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97" y="1369287"/>
            <a:ext cx="4079564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80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製作出色的產品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BAADBBE-F1E3-480E-BE79-B55DEF94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A4C868C7-0B77-47B8-9C16-7F97AA9F0D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4198D5-23F4-441A-AD0A-C6CD015E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8E5DAC80-95FC-4BA1-98B2-5631FB3B019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298" y="3200401"/>
            <a:ext cx="5257799" cy="170180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464448FE-96B4-43C5-8721-4FBF69E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F8104834-0355-4576-A9E5-FF5B92B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AD2D377-D829-49CC-9253-683054B9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298" y="2063075"/>
            <a:ext cx="5257799" cy="1268810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481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 Contoso 與競爭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0">
            <a:extLst>
              <a:ext uri="{FF2B5EF4-FFF2-40B4-BE49-F238E27FC236}">
                <a16:creationId xmlns:a16="http://schemas.microsoft.com/office/drawing/2014/main" id="{995D6E1F-61DD-45C8-BD0F-87774F3858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F1E30-78A1-4D04-868B-2FF65A0C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2EE5A-2D26-4A38-BF97-6266BFC4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716CE84D-B2FA-4712-9112-9A6349EE05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08686" y="2921932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內容版面配置區 15">
            <a:extLst>
              <a:ext uri="{FF2B5EF4-FFF2-40B4-BE49-F238E27FC236}">
                <a16:creationId xmlns:a16="http://schemas.microsoft.com/office/drawing/2014/main" id="{5EB29FAF-F8EE-4156-8E07-E14DFBABA0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8686" y="4327267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C5BC42-EC33-40D4-8189-69F1D23A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86" y="1516597"/>
            <a:ext cx="3980182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83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歷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09C0924B-E154-4A9E-830A-0CED0F96B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文字版面配置區 14">
            <a:extLst>
              <a:ext uri="{FF2B5EF4-FFF2-40B4-BE49-F238E27FC236}">
                <a16:creationId xmlns:a16="http://schemas.microsoft.com/office/drawing/2014/main" id="{09FC371A-791E-4A18-A05F-62DAAB144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文字版面配置區 14">
            <a:extLst>
              <a:ext uri="{FF2B5EF4-FFF2-40B4-BE49-F238E27FC236}">
                <a16:creationId xmlns:a16="http://schemas.microsoft.com/office/drawing/2014/main" id="{7370EA53-C218-4777-8992-DFE61FD94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8" name="文字版面配置區 14">
            <a:extLst>
              <a:ext uri="{FF2B5EF4-FFF2-40B4-BE49-F238E27FC236}">
                <a16:creationId xmlns:a16="http://schemas.microsoft.com/office/drawing/2014/main" id="{52263598-CA5C-4D32-8005-69A3003C53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4">
            <a:extLst>
              <a:ext uri="{FF2B5EF4-FFF2-40B4-BE49-F238E27FC236}">
                <a16:creationId xmlns:a16="http://schemas.microsoft.com/office/drawing/2014/main" id="{04255F76-4757-4D5C-80D7-A3307CEBC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9397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6948AE7E-55CC-4F22-9239-099E8E8EF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文字版面配置區 14">
            <a:extLst>
              <a:ext uri="{FF2B5EF4-FFF2-40B4-BE49-F238E27FC236}">
                <a16:creationId xmlns:a16="http://schemas.microsoft.com/office/drawing/2014/main" id="{D91E6446-232F-4870-8335-C708DDB3E7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6A3A8254-B2DC-4C36-8E81-397E7CB3E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048C7215-4A75-4BF9-96EC-BEA9AA123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4" name="文字版面配置區 14">
            <a:extLst>
              <a:ext uri="{FF2B5EF4-FFF2-40B4-BE49-F238E27FC236}">
                <a16:creationId xmlns:a16="http://schemas.microsoft.com/office/drawing/2014/main" id="{C2FA34D0-4280-4201-9E40-5FE0D81D7D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文字版面配置區 14">
            <a:extLst>
              <a:ext uri="{FF2B5EF4-FFF2-40B4-BE49-F238E27FC236}">
                <a16:creationId xmlns:a16="http://schemas.microsoft.com/office/drawing/2014/main" id="{BD0D6DFA-0AE8-42A3-ADA8-785B98B99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7E475D18-842D-4508-9049-99A36DA389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7" name="文字版面配置區 14">
            <a:extLst>
              <a:ext uri="{FF2B5EF4-FFF2-40B4-BE49-F238E27FC236}">
                <a16:creationId xmlns:a16="http://schemas.microsoft.com/office/drawing/2014/main" id="{F7A2B249-C1B4-4F5F-9C74-B3763CCFC8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4">
            <a:extLst>
              <a:ext uri="{FF2B5EF4-FFF2-40B4-BE49-F238E27FC236}">
                <a16:creationId xmlns:a16="http://schemas.microsoft.com/office/drawing/2014/main" id="{64240E02-7397-4BFB-923B-4E4A96C7C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9" name="文字版面配置區 14">
            <a:extLst>
              <a:ext uri="{FF2B5EF4-FFF2-40B4-BE49-F238E27FC236}">
                <a16:creationId xmlns:a16="http://schemas.microsoft.com/office/drawing/2014/main" id="{41400094-84D6-4303-BA4B-0E0D1FF018E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文字版面配置區 14">
            <a:extLst>
              <a:ext uri="{FF2B5EF4-FFF2-40B4-BE49-F238E27FC236}">
                <a16:creationId xmlns:a16="http://schemas.microsoft.com/office/drawing/2014/main" id="{AAF6E8A4-DDDD-49A1-B1C9-3574B58A8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4">
            <a:extLst>
              <a:ext uri="{FF2B5EF4-FFF2-40B4-BE49-F238E27FC236}">
                <a16:creationId xmlns:a16="http://schemas.microsoft.com/office/drawing/2014/main" id="{D9AB8D6A-C296-4468-9A7D-7F46B3642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7957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2" name="文字版面配置區 14">
            <a:extLst>
              <a:ext uri="{FF2B5EF4-FFF2-40B4-BE49-F238E27FC236}">
                <a16:creationId xmlns:a16="http://schemas.microsoft.com/office/drawing/2014/main" id="{D17C8109-2F1A-4248-BE14-FE5D4AE1E3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4">
            <a:extLst>
              <a:ext uri="{FF2B5EF4-FFF2-40B4-BE49-F238E27FC236}">
                <a16:creationId xmlns:a16="http://schemas.microsoft.com/office/drawing/2014/main" id="{5735C006-B8AC-427F-A337-4F607EB543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4" name="文字版面配置區 14">
            <a:extLst>
              <a:ext uri="{FF2B5EF4-FFF2-40B4-BE49-F238E27FC236}">
                <a16:creationId xmlns:a16="http://schemas.microsoft.com/office/drawing/2014/main" id="{B62C7805-F615-4B77-89DD-63F1F946E78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5" name="文字版面配置區 14">
            <a:extLst>
              <a:ext uri="{FF2B5EF4-FFF2-40B4-BE49-F238E27FC236}">
                <a16:creationId xmlns:a16="http://schemas.microsoft.com/office/drawing/2014/main" id="{7B0BABA0-0326-410E-AECF-0D41365DD47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6" name="文字版面配置區 14">
            <a:extLst>
              <a:ext uri="{FF2B5EF4-FFF2-40B4-BE49-F238E27FC236}">
                <a16:creationId xmlns:a16="http://schemas.microsoft.com/office/drawing/2014/main" id="{9E4FCBEC-4348-4D10-B139-FD526C86B1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4">
            <a:extLst>
              <a:ext uri="{FF2B5EF4-FFF2-40B4-BE49-F238E27FC236}">
                <a16:creationId xmlns:a16="http://schemas.microsoft.com/office/drawing/2014/main" id="{DA4FA8D2-F1E5-4A88-855F-84D521DB70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8" name="文字版面配置區 14">
            <a:extLst>
              <a:ext uri="{FF2B5EF4-FFF2-40B4-BE49-F238E27FC236}">
                <a16:creationId xmlns:a16="http://schemas.microsoft.com/office/drawing/2014/main" id="{7E27FFDC-7B67-4C2F-8712-C7961E6E9A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1" name="文字版面配置區 14">
            <a:extLst>
              <a:ext uri="{FF2B5EF4-FFF2-40B4-BE49-F238E27FC236}">
                <a16:creationId xmlns:a16="http://schemas.microsoft.com/office/drawing/2014/main" id="{B098AA04-538E-4D0B-BC5E-3C79B451D1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7221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新增年份</a:t>
            </a:r>
          </a:p>
        </p:txBody>
      </p:sp>
      <p:sp>
        <p:nvSpPr>
          <p:cNvPr id="52" name="文字版面配置區 14">
            <a:extLst>
              <a:ext uri="{FF2B5EF4-FFF2-40B4-BE49-F238E27FC236}">
                <a16:creationId xmlns:a16="http://schemas.microsoft.com/office/drawing/2014/main" id="{80992CBE-A6F0-4FF1-8F4F-84B050480A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361409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新增年份</a:t>
            </a:r>
          </a:p>
        </p:txBody>
      </p:sp>
      <p:sp>
        <p:nvSpPr>
          <p:cNvPr id="53" name="文字版面配置區 14">
            <a:extLst>
              <a:ext uri="{FF2B5EF4-FFF2-40B4-BE49-F238E27FC236}">
                <a16:creationId xmlns:a16="http://schemas.microsoft.com/office/drawing/2014/main" id="{738B60B3-540F-4900-A4BB-0B521A1F75C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4" name="文字版面配置區 14">
            <a:extLst>
              <a:ext uri="{FF2B5EF4-FFF2-40B4-BE49-F238E27FC236}">
                <a16:creationId xmlns:a16="http://schemas.microsoft.com/office/drawing/2014/main" id="{FD7D7797-7938-4D6E-B5A4-21536E2021E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5" name="文字版面配置區 14">
            <a:extLst>
              <a:ext uri="{FF2B5EF4-FFF2-40B4-BE49-F238E27FC236}">
                <a16:creationId xmlns:a16="http://schemas.microsoft.com/office/drawing/2014/main" id="{F7B339B7-1A20-4B38-8EAE-3C98E757DA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6" name="文字版面配置區 14">
            <a:extLst>
              <a:ext uri="{FF2B5EF4-FFF2-40B4-BE49-F238E27FC236}">
                <a16:creationId xmlns:a16="http://schemas.microsoft.com/office/drawing/2014/main" id="{3D0B1401-F4EC-4750-A2AA-34CD72504AC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7" name="文字版面配置區 14">
            <a:extLst>
              <a:ext uri="{FF2B5EF4-FFF2-40B4-BE49-F238E27FC236}">
                <a16:creationId xmlns:a16="http://schemas.microsoft.com/office/drawing/2014/main" id="{25C7DA61-BA93-48EE-BB6E-9E5D96271A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8" name="文字版面配置區 14">
            <a:extLst>
              <a:ext uri="{FF2B5EF4-FFF2-40B4-BE49-F238E27FC236}">
                <a16:creationId xmlns:a16="http://schemas.microsoft.com/office/drawing/2014/main" id="{6B7F232D-8C58-4A29-8A95-52E6B74C053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02" name="直線接點​​(S) 101">
            <a:extLst>
              <a:ext uri="{FF2B5EF4-FFF2-40B4-BE49-F238E27FC236}">
                <a16:creationId xmlns:a16="http://schemas.microsoft.com/office/drawing/2014/main" id="{F2334811-4848-4246-ACD8-273541203B2A}"/>
              </a:ext>
            </a:extLst>
          </p:cNvPr>
          <p:cNvCxnSpPr>
            <a:cxnSpLocks/>
          </p:cNvCxnSpPr>
          <p:nvPr userDrawn="1"/>
        </p:nvCxnSpPr>
        <p:spPr>
          <a:xfrm>
            <a:off x="0" y="755452"/>
            <a:ext cx="1033062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5E76D73-D506-4E6B-A789-AB87E732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418" y="100579"/>
            <a:ext cx="1943381" cy="1268811"/>
          </a:xfrm>
          <a:prstGeom prst="rect">
            <a:avLst/>
          </a:prstGeom>
        </p:spPr>
        <p:txBody>
          <a:bodyPr rtlCol="0" anchor="ctr"/>
          <a:lstStyle>
            <a:lvl1pPr algn="r"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277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要心得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A3D8856B-7A24-4C55-9910-ED81BFA0A0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B3118EB-9968-4E6E-B2B6-A76765DCFA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01509" y="2431279"/>
            <a:ext cx="4288971" cy="305512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0" name="頁尾版面配置區 4">
            <a:extLst>
              <a:ext uri="{FF2B5EF4-FFF2-40B4-BE49-F238E27FC236}">
                <a16:creationId xmlns:a16="http://schemas.microsoft.com/office/drawing/2014/main" id="{3ABAA64D-DEC0-453B-A9D7-7183AF0C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F74F7F62-A2D6-471E-83D8-44BA2699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CF88F189-31A8-4BA7-80D9-4A40A4E2B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34820" y="-3976"/>
            <a:ext cx="0" cy="21593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14EE86B4-3F11-45CB-96F9-7D1AB761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6273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適用于企業的秘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60ED5431-1075-4889-87EB-D79FFE509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04630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E7CC669C-5E68-40A8-8F59-E044A32F4B3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999340"/>
            <a:ext cx="557887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93EEC13B-7926-4108-B0C5-F3A2A5AE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0C546480-8B8D-4EF8-8C6A-DFFAC27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  <a:prstGeom prst="rect">
            <a:avLst/>
          </a:prstGeom>
        </p:spPr>
        <p:txBody>
          <a:bodyPr rtlCol="0" anchor="ctr"/>
          <a:lstStyle>
            <a:lvl1pPr algn="l">
              <a:lnSpc>
                <a:spcPct val="100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2789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採取行動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15B931B-7725-4C86-A82C-07F42F44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116D3891-B2BA-4AE6-AAA7-560547F4B5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89831967-45C9-40AF-A955-56E9578B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6167DEC-7546-44F6-AD64-E71C2FF1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1241730-14B7-407E-9517-F4510520D03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1900" y="3282850"/>
            <a:ext cx="5350010" cy="103073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055B60F-1D5E-4B0C-8354-2E7AA187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98" y="2471206"/>
            <a:ext cx="5350010" cy="867398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00000"/>
              </a:lnSpc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145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9C6F1ED5-824E-4C14-8D5E-5A0A26C542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9F762423-7F4E-4A21-8F09-05418F82F9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78765" y="3267882"/>
            <a:ext cx="3193926" cy="2203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2AE728-7030-4847-B87B-FDB4B86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765" y="2371063"/>
            <a:ext cx="3193926" cy="999451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0101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84DCE26-8B90-4B2C-883A-D5FFC365BF8A}"/>
              </a:ext>
            </a:extLst>
          </p:cNvPr>
          <p:cNvSpPr txBox="1"/>
          <p:nvPr userDrawn="1"/>
        </p:nvSpPr>
        <p:spPr>
          <a:xfrm>
            <a:off x="5637320" y="29740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PJFQlvldNkE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hyperlink" Target="https://www.youtube.com/watch?v=kfaQ9Tz0gp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C022D7CD-E026-4E29-BE4B-3FA7B1EB6A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3027" y="4745864"/>
            <a:ext cx="3914981" cy="1177290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TW" altLang="en-US" dirty="0"/>
              <a:t>莊凱翔 助理教授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zh-TW" altLang="en-US" dirty="0"/>
              <a:t>元智大學機械工程學系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en-US" altLang="zh-TW" dirty="0"/>
              <a:t>115-1</a:t>
            </a:r>
            <a:r>
              <a:rPr lang="zh-TW" altLang="en-US" dirty="0"/>
              <a:t> 人工智慧概論課程</a:t>
            </a:r>
          </a:p>
        </p:txBody>
      </p:sp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AEEB6582-6001-4276-8F87-1470B6FA1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47790" y="5237725"/>
            <a:ext cx="2459114" cy="685429"/>
          </a:xfrm>
        </p:spPr>
        <p:txBody>
          <a:bodyPr rtlCol="0"/>
          <a:lstStyle/>
          <a:p>
            <a:pPr rtl="0"/>
            <a:r>
              <a:rPr lang="en-US" altLang="zh-TW" dirty="0"/>
              <a:t>2026/09/15</a:t>
            </a:r>
          </a:p>
        </p:txBody>
      </p:sp>
      <p:sp>
        <p:nvSpPr>
          <p:cNvPr id="2" name="AutoShape 2" descr="決策樹：從資料到更好選擇">
            <a:extLst>
              <a:ext uri="{FF2B5EF4-FFF2-40B4-BE49-F238E27FC236}">
                <a16:creationId xmlns:a16="http://schemas.microsoft.com/office/drawing/2014/main" id="{20C9AE9D-492F-FF69-7210-445D247387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2E6CA31-DE93-9D1A-43E1-D0466ED0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883" y="543670"/>
            <a:ext cx="12037349" cy="401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9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r>
              <a:rPr lang="zh-TW" altLang="en-US" dirty="0"/>
              <a:t>資料分割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2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B631019-5266-4FB6-0A5A-566236014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42" y="856693"/>
            <a:ext cx="8631810" cy="48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0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9DBD5D6-A896-B8A4-A9CD-58A5C563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65" y="979303"/>
            <a:ext cx="9077265" cy="510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9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604F71D-DA09-9097-CD8C-A0356EBC5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01" y="1014116"/>
            <a:ext cx="9043911" cy="5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0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DA5921-BFDC-41F2-85DA-24C802F2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631B1-EAC4-342E-D526-5EA8CDACD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699" y="840652"/>
            <a:ext cx="9095592" cy="511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1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6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67EF59C4-3158-D622-573B-491D1671E20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568824" y="941653"/>
            <a:ext cx="8839200" cy="4974694"/>
          </a:xfrm>
        </p:spPr>
      </p:pic>
    </p:spTree>
    <p:extLst>
      <p:ext uri="{BB962C8B-B14F-4D97-AF65-F5344CB8AC3E}">
        <p14:creationId xmlns:p14="http://schemas.microsoft.com/office/powerpoint/2010/main" val="335212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39B2324E-969D-4802-8BB3-E6EC3E22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7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D5B5E6-D41B-1C0D-66B9-136E7617E78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3C21F2F2-1019-09E9-30DC-7694DBAF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508" y="856693"/>
            <a:ext cx="8958250" cy="504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8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8</a:t>
            </a:fld>
            <a:endParaRPr lang="zh-TW" altLang="en-US"/>
          </a:p>
        </p:txBody>
      </p:sp>
      <p:sp>
        <p:nvSpPr>
          <p:cNvPr id="2" name="頁尾版面配置區 3">
            <a:extLst>
              <a:ext uri="{FF2B5EF4-FFF2-40B4-BE49-F238E27FC236}">
                <a16:creationId xmlns:a16="http://schemas.microsoft.com/office/drawing/2014/main" id="{C8581337-B2AD-9EBC-95D6-70B327CA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zh-TW" altLang="en-US" dirty="0"/>
              <a:t>圖片出處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AI</a:t>
            </a:r>
            <a:r>
              <a:rPr lang="zh-TW" altLang="en-US" dirty="0"/>
              <a:t>完全圖解人工智慧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5E0593-9E6E-CAF2-30C8-B77C32E91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339" y="864342"/>
            <a:ext cx="9102301" cy="512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16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2D4CE5-76C3-82F3-DB2F-8933AA9B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073"/>
          <a:stretch/>
        </p:blipFill>
        <p:spPr>
          <a:xfrm>
            <a:off x="1716162" y="860198"/>
            <a:ext cx="9128663" cy="143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1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B7E5B3-F6B1-4A5C-A942-9728FEC57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/>
          </a:p>
        </p:txBody>
      </p:sp>
      <p:cxnSp>
        <p:nvCxnSpPr>
          <p:cNvPr id="22" name="直線接點​​(S) 21">
            <a:extLst>
              <a:ext uri="{FF2B5EF4-FFF2-40B4-BE49-F238E27FC236}">
                <a16:creationId xmlns:a16="http://schemas.microsoft.com/office/drawing/2014/main" id="{11C0FA35-FBFE-4B23-B0D5-ECBC4C905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9360" y="0"/>
            <a:ext cx="0" cy="17133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C7F794E-8D8D-4E1B-9A9D-F5A6A9E3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 dirty="0"/>
              <a:t>2026/9/15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6665B6-F02E-4FF8-AEBC-BEFA35EA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8D65601-5AE2-46FC-B138-694DDD2B510D}" type="slidenum">
              <a:rPr lang="en-US" altLang="zh-TW" smtClean="0"/>
              <a:pPr rtl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2D4CE5-76C3-82F3-DB2F-8933AA9B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162" y="860198"/>
            <a:ext cx="9128663" cy="513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3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F2C55A-20A8-DDC5-7519-B8079C71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DF245C-8EAE-136D-FCAA-8533E943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11</a:t>
            </a:fld>
            <a:endParaRPr lang="zh-TW" altLang="en-US" noProof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3F91D9A7-6B4F-B0E4-7938-CD96DAE64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2616" y="1736605"/>
            <a:ext cx="3786693" cy="326687"/>
          </a:xfrm>
        </p:spPr>
        <p:txBody>
          <a:bodyPr/>
          <a:lstStyle/>
          <a:p>
            <a:r>
              <a:rPr lang="zh-TW" altLang="en-US" dirty="0"/>
              <a:t>課後學習</a:t>
            </a:r>
          </a:p>
        </p:txBody>
      </p:sp>
      <p:pic>
        <p:nvPicPr>
          <p:cNvPr id="12" name="圖片 11">
            <a:hlinkClick r:id="rId2"/>
            <a:extLst>
              <a:ext uri="{FF2B5EF4-FFF2-40B4-BE49-F238E27FC236}">
                <a16:creationId xmlns:a16="http://schemas.microsoft.com/office/drawing/2014/main" id="{9FC91E45-6163-0989-31E6-D35BC8E3D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057" y="3013653"/>
            <a:ext cx="4788900" cy="247500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62EAF37A-EEA9-1503-4E91-F001F964D83E}"/>
              </a:ext>
            </a:extLst>
          </p:cNvPr>
          <p:cNvSpPr txBox="1"/>
          <p:nvPr/>
        </p:nvSpPr>
        <p:spPr>
          <a:xfrm>
            <a:off x="459935" y="5540989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>
                <a:hlinkClick r:id="rId2"/>
              </a:rPr>
              <a:t>https://www.youtube.com/watch?v=PJFQlvldNkE</a:t>
            </a:r>
            <a:endParaRPr lang="en-US" altLang="zh-TW"/>
          </a:p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7BCBF3-F4D1-FA23-66E9-734FBB121B1C}"/>
              </a:ext>
            </a:extLst>
          </p:cNvPr>
          <p:cNvSpPr txBox="1"/>
          <p:nvPr/>
        </p:nvSpPr>
        <p:spPr>
          <a:xfrm>
            <a:off x="1454524" y="2280268"/>
            <a:ext cx="4199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i="0" dirty="0">
                <a:effectLst/>
                <a:latin typeface="Roboto" panose="02000000000000000000" pitchFamily="2" charset="0"/>
              </a:rPr>
              <a:t>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圈頭號唱衰者拆 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GPT-6 Astra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的 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AGI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宣告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【AI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大人說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】</a:t>
            </a:r>
          </a:p>
        </p:txBody>
      </p:sp>
      <p:pic>
        <p:nvPicPr>
          <p:cNvPr id="18" name="圖片 17">
            <a:hlinkClick r:id="rId4"/>
            <a:extLst>
              <a:ext uri="{FF2B5EF4-FFF2-40B4-BE49-F238E27FC236}">
                <a16:creationId xmlns:a16="http://schemas.microsoft.com/office/drawing/2014/main" id="{23272CC6-AC15-9EA2-10C7-0782CDF33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899" y="2980374"/>
            <a:ext cx="4973697" cy="250828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AB1658D4-1E0A-D208-D39B-1AA2F99A5ECF}"/>
              </a:ext>
            </a:extLst>
          </p:cNvPr>
          <p:cNvSpPr txBox="1"/>
          <p:nvPr/>
        </p:nvSpPr>
        <p:spPr>
          <a:xfrm>
            <a:off x="5999265" y="5540990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hlinkClick r:id="rId4"/>
              </a:rPr>
              <a:t>https://www.youtube.com/watch?v=kfaQ9Tz0gpU</a:t>
            </a:r>
            <a:endParaRPr lang="en-US" altLang="zh-TW" dirty="0"/>
          </a:p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BB283EE-E32B-9D99-412F-F8694106E452}"/>
              </a:ext>
            </a:extLst>
          </p:cNvPr>
          <p:cNvSpPr txBox="1"/>
          <p:nvPr/>
        </p:nvSpPr>
        <p:spPr>
          <a:xfrm>
            <a:off x="5999265" y="2307878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i="0" dirty="0">
                <a:effectLst/>
                <a:latin typeface="Roboto" panose="02000000000000000000" pitchFamily="2" charset="0"/>
              </a:rPr>
              <a:t>陶哲軒：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解題像個微醺的天才，而科學界可能在優化錯的東西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【AI </a:t>
            </a:r>
            <a:r>
              <a:rPr lang="zh-TW" altLang="en-US" b="1" i="0" dirty="0">
                <a:effectLst/>
                <a:latin typeface="Roboto" panose="02000000000000000000" pitchFamily="2" charset="0"/>
              </a:rPr>
              <a:t>大人說</a:t>
            </a:r>
            <a:r>
              <a:rPr lang="en-US" altLang="zh-TW" b="1" i="0" dirty="0">
                <a:effectLst/>
                <a:latin typeface="Roboto" panose="02000000000000000000" pitchFamily="2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22280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9945386_TF78544816_Win32" id="{9E63F1E3-28E5-483A-B659-61289534B460}" vid="{AD1DE065-60B4-4853-9CC3-BCBE3EC4F98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E3569-F02A-48B1-8F6E-F11E8BF870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9B3369-3F0F-499C-9EE7-8EC46B6E8A7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C34B31-7353-4357-814E-0E5916A110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新式會議簡報</Template>
  <TotalTime>443</TotalTime>
  <Words>747</Words>
  <Application>Microsoft Office PowerPoint</Application>
  <PresentationFormat>寬螢幕</PresentationFormat>
  <Paragraphs>82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Microsoft JhengHei UI</vt:lpstr>
      <vt:lpstr>Microsoft JhengHei UI Light</vt:lpstr>
      <vt:lpstr>Arial</vt:lpstr>
      <vt:lpstr>Roboto</vt:lpstr>
      <vt:lpstr>Office 佈景主題</vt:lpstr>
      <vt:lpstr>PowerPoint 簡報</vt:lpstr>
      <vt:lpstr>資料分割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KAI-HSIANG CHUANG</dc:creator>
  <cp:lastModifiedBy>KAI-HSIANG CHUANG</cp:lastModifiedBy>
  <cp:revision>10</cp:revision>
  <dcterms:created xsi:type="dcterms:W3CDTF">2026-08-19T04:14:59Z</dcterms:created>
  <dcterms:modified xsi:type="dcterms:W3CDTF">2026-09-29T04:36:55Z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