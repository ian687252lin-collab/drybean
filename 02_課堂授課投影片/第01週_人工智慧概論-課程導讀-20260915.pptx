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71" r:id="rId7"/>
    <p:sldId id="272" r:id="rId8"/>
    <p:sldId id="273" r:id="rId9"/>
    <p:sldId id="275" r:id="rId10"/>
    <p:sldId id="276" r:id="rId11"/>
    <p:sldId id="277" r:id="rId12"/>
    <p:sldId id="279" r:id="rId13"/>
    <p:sldId id="280" r:id="rId14"/>
    <p:sldId id="281" r:id="rId15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1" autoAdjust="0"/>
    <p:restoredTop sz="88914" autoAdjust="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6540" y="16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0364D4E-7422-40C5-B104-A8045DE1D334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2026/9/15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0AC623C-86E0-4A85-83FB-F4A716956FD4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008CA673-C202-4825-8824-38BE53AF95B4}" type="datetime1">
              <a:rPr lang="zh-TW" altLang="en-US" noProof="0" smtClean="0"/>
              <a:t>2026/9/15</a:t>
            </a:fld>
            <a:endParaRPr lang="zh-TW" altLang="en-US" noProof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C37D7554-D10C-4E29-B8E6-BB7111FA614F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hilton-computing.org.uk/inf/literature/reports/lighthill_report/p001.htm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ojs.aaai.org/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37D7554-D10C-4E29-B8E6-BB7111FA614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630868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r>
              <a:rPr lang="zh-TW" altLang="en-US" dirty="0"/>
              <a:t>兩次 </a:t>
            </a:r>
            <a:r>
              <a:rPr lang="en-US" altLang="zh-TW" dirty="0"/>
              <a:t>AI </a:t>
            </a:r>
            <a:r>
              <a:rPr lang="zh-TW" altLang="en-US" dirty="0"/>
              <a:t>寒冬都不是由單一事件造成，而是共同遵循一個模式：</a:t>
            </a:r>
          </a:p>
          <a:p>
            <a:r>
              <a:rPr lang="zh-TW" altLang="en-US" dirty="0"/>
              <a:t>過度期待 → 技術無法處理真實世界問題 → 投資與研究經費縮減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b="1" dirty="0"/>
              <a:t>第一次 </a:t>
            </a:r>
            <a:r>
              <a:rPr lang="en-US" altLang="zh-TW" b="1" dirty="0"/>
              <a:t>AI </a:t>
            </a:r>
            <a:r>
              <a:rPr lang="zh-TW" altLang="en-US" b="1" dirty="0"/>
              <a:t>寒冬：約 </a:t>
            </a:r>
            <a:r>
              <a:rPr lang="en-US" altLang="zh-TW" b="1" dirty="0"/>
              <a:t>1970 </a:t>
            </a:r>
            <a:r>
              <a:rPr lang="zh-TW" altLang="en-US" b="1" dirty="0"/>
              <a:t>年代</a:t>
            </a:r>
          </a:p>
          <a:p>
            <a:r>
              <a:rPr lang="zh-TW" altLang="en-US" dirty="0"/>
              <a:t>最關鍵原因是：</a:t>
            </a:r>
            <a:r>
              <a:rPr lang="zh-TW" altLang="en-US" b="1" dirty="0"/>
              <a:t>規則搜尋遇到「組合爆炸」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第一波 </a:t>
            </a:r>
            <a:r>
              <a:rPr lang="en-US" altLang="zh-TW" dirty="0"/>
              <a:t>AI </a:t>
            </a:r>
            <a:r>
              <a:rPr lang="zh-TW" altLang="en-US" dirty="0"/>
              <a:t>主要依賴符號邏輯、規則與搜尋。它可以處理西洋棋、迷宮等規則明確且範圍有限的問題；但一旦情境與可能選項增加，需要搜尋的路徑便呈指數成長。</a:t>
            </a:r>
          </a:p>
          <a:p>
            <a:r>
              <a:rPr lang="zh-TW" altLang="en-US" dirty="0"/>
              <a:t>例如，每一步有 </a:t>
            </a:r>
            <a:r>
              <a:rPr lang="en-US" altLang="zh-TW" dirty="0"/>
              <a:t>10 </a:t>
            </a:r>
            <a:r>
              <a:rPr lang="zh-TW" altLang="en-US" dirty="0"/>
              <a:t>種選擇、連續判斷 </a:t>
            </a:r>
            <a:r>
              <a:rPr lang="en-US" altLang="zh-TW" dirty="0"/>
              <a:t>10 </a:t>
            </a:r>
            <a:r>
              <a:rPr lang="zh-TW" altLang="en-US" dirty="0"/>
              <a:t>步，就可能產生：</a:t>
            </a:r>
          </a:p>
          <a:p>
            <a:r>
              <a:rPr lang="en-US" altLang="zh-TW" dirty="0"/>
              <a:t>1010=100</a:t>
            </a:r>
            <a:r>
              <a:rPr lang="zh-TW" altLang="en-US" dirty="0"/>
              <a:t>億</a:t>
            </a:r>
            <a:r>
              <a:rPr lang="en-US" altLang="zh-TW" dirty="0"/>
              <a:t>10^{10}=100</a:t>
            </a:r>
            <a:r>
              <a:rPr lang="zh-TW" altLang="en-US" dirty="0"/>
              <a:t>億條搜尋路徑。</a:t>
            </a:r>
          </a:p>
          <a:p>
            <a:r>
              <a:rPr lang="zh-TW" altLang="en-US" dirty="0"/>
              <a:t>當時又受限於：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電腦運算能力與記憶體不足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缺乏大量數位資料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/>
              <a:t>AI </a:t>
            </a:r>
            <a:r>
              <a:rPr lang="zh-TW" altLang="en-US" dirty="0"/>
              <a:t>缺乏常識，難以理解真實世界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機器翻譯、機器人與語言理解未達到承諾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政府認為成果不如預期，開始削減經費</a:t>
            </a:r>
          </a:p>
          <a:p>
            <a:r>
              <a:rPr lang="en-US" altLang="zh-TW" dirty="0"/>
              <a:t>1973 </a:t>
            </a:r>
            <a:r>
              <a:rPr lang="zh-TW" altLang="en-US" dirty="0"/>
              <a:t>年英國的 </a:t>
            </a:r>
            <a:r>
              <a:rPr lang="en-US" altLang="zh-TW" dirty="0" err="1"/>
              <a:t>Lighthill</a:t>
            </a:r>
            <a:r>
              <a:rPr lang="en-US" altLang="zh-TW" dirty="0"/>
              <a:t> Report </a:t>
            </a:r>
            <a:r>
              <a:rPr lang="zh-TW" altLang="en-US" dirty="0"/>
              <a:t>特別批評 </a:t>
            </a:r>
            <a:r>
              <a:rPr lang="en-US" altLang="zh-TW" dirty="0"/>
              <a:t>AI </a:t>
            </a:r>
            <a:r>
              <a:rPr lang="zh-TW" altLang="en-US" dirty="0"/>
              <a:t>無法克服組合爆炸，只能解決規模較小的「玩具問題」，促使英國大幅縮減 </a:t>
            </a:r>
            <a:r>
              <a:rPr lang="en-US" altLang="zh-TW" dirty="0"/>
              <a:t>AI </a:t>
            </a:r>
            <a:r>
              <a:rPr lang="zh-TW" altLang="en-US" dirty="0"/>
              <a:t>研究支持。</a:t>
            </a:r>
            <a:r>
              <a:rPr lang="en-US" altLang="zh-TW" dirty="0" err="1">
                <a:hlinkClick r:id="rId3"/>
              </a:rPr>
              <a:t>Lighthill</a:t>
            </a:r>
            <a:r>
              <a:rPr lang="en-US" altLang="zh-TW" dirty="0">
                <a:hlinkClick r:id="rId3"/>
              </a:rPr>
              <a:t> Report </a:t>
            </a:r>
            <a:r>
              <a:rPr lang="zh-TW" altLang="en-US" dirty="0">
                <a:hlinkClick r:id="rId3"/>
              </a:rPr>
              <a:t>原始資料</a:t>
            </a:r>
            <a:endParaRPr lang="zh-TW" altLang="en-US" dirty="0"/>
          </a:p>
          <a:p>
            <a:r>
              <a:rPr lang="zh-TW" altLang="en-US" dirty="0"/>
              <a:t>一句話總結：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b="1" dirty="0"/>
              <a:t>第一波 </a:t>
            </a:r>
            <a:r>
              <a:rPr lang="en-US" altLang="zh-TW" b="1" dirty="0"/>
              <a:t>AI </a:t>
            </a:r>
            <a:r>
              <a:rPr lang="zh-TW" altLang="en-US" b="1" dirty="0"/>
              <a:t>寒冬：電腦能按照規則思考，但規則與可能情況一多，就算不完了。</a:t>
            </a:r>
            <a:endParaRPr lang="zh-TW" altLang="en-US" dirty="0"/>
          </a:p>
          <a:p>
            <a:r>
              <a:rPr lang="zh-TW" altLang="en-US" b="1" dirty="0"/>
              <a:t>第二次 </a:t>
            </a:r>
            <a:r>
              <a:rPr lang="en-US" altLang="zh-TW" b="1" dirty="0"/>
              <a:t>AI </a:t>
            </a:r>
            <a:r>
              <a:rPr lang="zh-TW" altLang="en-US" b="1" dirty="0"/>
              <a:t>寒冬：約 </a:t>
            </a:r>
            <a:r>
              <a:rPr lang="en-US" altLang="zh-TW" b="1" dirty="0"/>
              <a:t>1980 </a:t>
            </a:r>
            <a:r>
              <a:rPr lang="zh-TW" altLang="en-US" b="1" dirty="0"/>
              <a:t>年代末至</a:t>
            </a:r>
            <a:r>
              <a:rPr lang="en-US" altLang="zh-TW" b="1" dirty="0"/>
              <a:t>1990</a:t>
            </a:r>
            <a:r>
              <a:rPr lang="zh-TW" altLang="en-US" b="1" dirty="0"/>
              <a:t>年代</a:t>
            </a:r>
          </a:p>
          <a:p>
            <a:r>
              <a:rPr lang="zh-TW" altLang="en-US" dirty="0"/>
              <a:t>最關鍵原因是：</a:t>
            </a:r>
            <a:r>
              <a:rPr lang="zh-TW" altLang="en-US" b="1" dirty="0"/>
              <a:t>專家系統昂貴、脆弱，而且難以維護與擴充。</a:t>
            </a:r>
            <a:endParaRPr lang="zh-TW" altLang="en-US" dirty="0"/>
          </a:p>
          <a:p>
            <a:r>
              <a:rPr lang="zh-TW" altLang="en-US" dirty="0"/>
              <a:t>第二波 </a:t>
            </a:r>
            <a:r>
              <a:rPr lang="en-US" altLang="zh-TW" dirty="0"/>
              <a:t>AI </a:t>
            </a:r>
            <a:r>
              <a:rPr lang="zh-TW" altLang="en-US" dirty="0"/>
              <a:t>的代表是專家系統。工程師先訪問專家，再將其知識寫成大量的：</a:t>
            </a:r>
          </a:p>
          <a:p>
            <a:r>
              <a:rPr lang="en-US" altLang="zh-TW" dirty="0"/>
              <a:t>IF </a:t>
            </a:r>
            <a:r>
              <a:rPr lang="zh-TW" altLang="en-US" dirty="0"/>
              <a:t>條件成立，</a:t>
            </a:r>
            <a:r>
              <a:rPr lang="en-US" altLang="zh-TW" dirty="0"/>
              <a:t>THEN </a:t>
            </a:r>
            <a:r>
              <a:rPr lang="zh-TW" altLang="en-US" dirty="0"/>
              <a:t>採取某個結論。</a:t>
            </a:r>
          </a:p>
          <a:p>
            <a:r>
              <a:rPr lang="zh-TW" altLang="en-US" dirty="0"/>
              <a:t>它在狹窄、明確的專業範圍內可以表現良好，但實際使用時出現許多問題：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專家很難完整說出自己的經驗與直覺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建立知識庫耗費大量時間與成本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規則愈多，彼此愈容易衝突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情況稍微改變，就可能需要重寫規則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無法自行從資料中持續學習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專用 </a:t>
            </a:r>
            <a:r>
              <a:rPr lang="en-US" altLang="zh-TW" dirty="0"/>
              <a:t>AI</a:t>
            </a:r>
            <a:r>
              <a:rPr lang="zh-TW" altLang="en-US" dirty="0"/>
              <a:t>／</a:t>
            </a:r>
            <a:r>
              <a:rPr lang="en-US" altLang="zh-TW" dirty="0"/>
              <a:t>Lisp </a:t>
            </a:r>
            <a:r>
              <a:rPr lang="zh-TW" altLang="en-US" dirty="0"/>
              <a:t>工作站昂貴，後來又被較便宜的通用電腦取代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日本第五代電腦計畫等大型計畫未達到原先的宏大目標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企業發現投資報酬不如預期，市場與資金快速退潮</a:t>
            </a:r>
          </a:p>
          <a:p>
            <a:r>
              <a:rPr lang="zh-TW" altLang="en-US" dirty="0"/>
              <a:t>日本第五代電腦計畫於</a:t>
            </a:r>
            <a:r>
              <a:rPr lang="en-US" altLang="zh-TW" dirty="0"/>
              <a:t>1982</a:t>
            </a:r>
            <a:r>
              <a:rPr lang="zh-TW" altLang="en-US" dirty="0"/>
              <a:t>年啟動，希望以邏輯程式設計與平行運算建立新一代智慧電腦，但最終未能實現原先期望的通用智慧與商業效益。</a:t>
            </a:r>
            <a:r>
              <a:rPr lang="en-US" altLang="zh-TW" dirty="0">
                <a:hlinkClick r:id="rId4"/>
              </a:rPr>
              <a:t>AAAI</a:t>
            </a:r>
            <a:r>
              <a:rPr lang="zh-TW" altLang="en-US" dirty="0">
                <a:hlinkClick r:id="rId4"/>
              </a:rPr>
              <a:t>：</a:t>
            </a:r>
            <a:r>
              <a:rPr lang="en-US" altLang="zh-TW" dirty="0">
                <a:hlinkClick r:id="rId4"/>
              </a:rPr>
              <a:t>Fifth Generation Project</a:t>
            </a:r>
            <a:endParaRPr lang="zh-TW" altLang="en-US" dirty="0"/>
          </a:p>
          <a:p>
            <a:r>
              <a:rPr lang="zh-TW" altLang="en-US" dirty="0"/>
              <a:t>一句話總結：</a:t>
            </a:r>
          </a:p>
          <a:p>
            <a:r>
              <a:rPr lang="zh-TW" altLang="en-US" b="1" dirty="0"/>
              <a:t>第二波 </a:t>
            </a:r>
            <a:r>
              <a:rPr lang="en-US" altLang="zh-TW" b="1" dirty="0"/>
              <a:t>AI </a:t>
            </a:r>
            <a:r>
              <a:rPr lang="zh-TW" altLang="en-US" b="1" dirty="0"/>
              <a:t>寒冬：人類可以把專家規則教給電腦，但規則太難取得、太貴維護，也無法適應新情況。</a:t>
            </a:r>
            <a:endParaRPr lang="zh-TW" altLang="en-US" dirty="0"/>
          </a:p>
          <a:p>
            <a:r>
              <a:rPr lang="zh-TW" altLang="en-US" b="1" dirty="0"/>
              <a:t>課堂上可用的對照</a:t>
            </a:r>
          </a:p>
          <a:p>
            <a:r>
              <a:rPr lang="zh-TW" altLang="en-US" dirty="0"/>
              <a:t>寒冬期主要技術核心問題簡單說法第一次邏輯、規則搜尋組合爆炸與運算能力不足「可能性太多，算不完」第二次專家系統、知識庫知識取得困難、系統脆弱、成本過高「規則太多，寫不完也維護不了」而第三波 </a:t>
            </a:r>
            <a:r>
              <a:rPr lang="en-US" altLang="zh-TW" dirty="0"/>
              <a:t>AI </a:t>
            </a:r>
            <a:r>
              <a:rPr lang="zh-TW" altLang="en-US" dirty="0"/>
              <a:t>能重新崛起，正是因為改變了思路：</a:t>
            </a:r>
          </a:p>
          <a:p>
            <a:r>
              <a:rPr lang="zh-TW" altLang="en-US" dirty="0"/>
              <a:t>不再只靠人類寫下所有規則，而是讓電腦從大量資料中自行學習規律。</a:t>
            </a:r>
          </a:p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37D7554-D10C-4E29-B8E6-BB7111FA614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488358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37D7554-D10C-4E29-B8E6-BB7111FA614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63835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37D7554-D10C-4E29-B8E6-BB7111FA614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674251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37D7554-D10C-4E29-B8E6-BB7111FA614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380161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37D7554-D10C-4E29-B8E6-BB7111FA614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163830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37D7554-D10C-4E29-B8E6-BB7111FA614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477635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37D7554-D10C-4E29-B8E6-BB7111FA614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175655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37D7554-D10C-4E29-B8E6-BB7111FA614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9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210208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37D7554-D10C-4E29-B8E6-BB7111FA614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58599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職稱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65C9C5B-BBA9-42AB-806E-92FC22E19CBA}"/>
              </a:ext>
            </a:extLst>
          </p:cNvPr>
          <p:cNvSpPr/>
          <p:nvPr userDrawn="1"/>
        </p:nvSpPr>
        <p:spPr>
          <a:xfrm>
            <a:off x="-1" y="0"/>
            <a:ext cx="903746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11" name="圖片版面配置區 10">
            <a:extLst>
              <a:ext uri="{FF2B5EF4-FFF2-40B4-BE49-F238E27FC236}">
                <a16:creationId xmlns:a16="http://schemas.microsoft.com/office/drawing/2014/main" id="{AF30CF48-DD5D-4C81-BA7E-470DCBA61E6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76500" y="622103"/>
            <a:ext cx="9715500" cy="3720928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cxnSp>
        <p:nvCxnSpPr>
          <p:cNvPr id="15" name="直線接點​​(S) 14">
            <a:extLst>
              <a:ext uri="{FF2B5EF4-FFF2-40B4-BE49-F238E27FC236}">
                <a16:creationId xmlns:a16="http://schemas.microsoft.com/office/drawing/2014/main" id="{E7E08E4E-686B-490D-8EA1-DDC9F1BC7C24}"/>
              </a:ext>
            </a:extLst>
          </p:cNvPr>
          <p:cNvCxnSpPr>
            <a:cxnSpLocks/>
          </p:cNvCxnSpPr>
          <p:nvPr userDrawn="1"/>
        </p:nvCxnSpPr>
        <p:spPr>
          <a:xfrm>
            <a:off x="739466" y="0"/>
            <a:ext cx="0" cy="6187736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版面配置區 12">
            <a:extLst>
              <a:ext uri="{FF2B5EF4-FFF2-40B4-BE49-F238E27FC236}">
                <a16:creationId xmlns:a16="http://schemas.microsoft.com/office/drawing/2014/main" id="{C78B2B3F-3573-4632-872A-ADB36AF412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59337" y="5779363"/>
            <a:ext cx="2459114" cy="685430"/>
          </a:xfrm>
          <a:prstGeom prst="rect">
            <a:avLst/>
          </a:prstGeom>
        </p:spPr>
        <p:txBody>
          <a:bodyPr rtlCol="0" anchor="ctr"/>
          <a:lstStyle>
            <a:lvl1pPr marL="0" indent="0" algn="r">
              <a:lnSpc>
                <a:spcPct val="80000"/>
              </a:lnSpc>
              <a:spcBef>
                <a:spcPts val="0"/>
              </a:spcBef>
              <a:buNone/>
              <a:defRPr sz="1800" spc="100" baseline="0">
                <a:solidFill>
                  <a:schemeClr val="accent5">
                    <a:lumMod val="20000"/>
                    <a:lumOff val="8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按一下以新增姓名</a:t>
            </a:r>
          </a:p>
        </p:txBody>
      </p:sp>
      <p:sp>
        <p:nvSpPr>
          <p:cNvPr id="12" name="文字版面配置區 12">
            <a:extLst>
              <a:ext uri="{FF2B5EF4-FFF2-40B4-BE49-F238E27FC236}">
                <a16:creationId xmlns:a16="http://schemas.microsoft.com/office/drawing/2014/main" id="{6FF5EE2F-D68A-4C3C-A342-4C0CE6CE20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99663" y="5791178"/>
            <a:ext cx="2459114" cy="685429"/>
          </a:xfrm>
          <a:prstGeom prst="rect">
            <a:avLst/>
          </a:prstGeom>
        </p:spPr>
        <p:txBody>
          <a:bodyPr rtlCol="0"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600" cap="all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按一下以新增日期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52DB723-8435-4F35-BF55-AFB7DC8FD4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5205" y="4965134"/>
            <a:ext cx="4333088" cy="1596004"/>
          </a:xfrm>
          <a:prstGeom prst="rect">
            <a:avLst/>
          </a:prstGeom>
        </p:spPr>
        <p:txBody>
          <a:bodyPr rtlCol="0" anchor="ctr"/>
          <a:lstStyle>
            <a:lvl1pPr>
              <a:lnSpc>
                <a:spcPct val="80000"/>
              </a:lnSpc>
              <a:defRPr sz="5000" spc="100" baseline="0">
                <a:solidFill>
                  <a:schemeClr val="accent5">
                    <a:lumMod val="20000"/>
                    <a:lumOff val="8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按一下以新增標題</a:t>
            </a:r>
          </a:p>
        </p:txBody>
      </p:sp>
    </p:spTree>
    <p:extLst>
      <p:ext uri="{BB962C8B-B14F-4D97-AF65-F5344CB8AC3E}">
        <p14:creationId xmlns:p14="http://schemas.microsoft.com/office/powerpoint/2010/main" val="2167580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議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圖片版面配置區 9">
            <a:extLst>
              <a:ext uri="{FF2B5EF4-FFF2-40B4-BE49-F238E27FC236}">
                <a16:creationId xmlns:a16="http://schemas.microsoft.com/office/drawing/2014/main" id="{FF5ED5F1-A62B-4555-807E-91FAE1443CC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按一下以新增相片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A9D60F5-07EA-4D8F-AAFA-0F48CB785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3ED4C42-D293-4981-BA06-A4638BEE1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73E9D98-F221-47DC-AE55-8165BB7A3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16" name="內容版面配置區 15">
            <a:extLst>
              <a:ext uri="{FF2B5EF4-FFF2-40B4-BE49-F238E27FC236}">
                <a16:creationId xmlns:a16="http://schemas.microsoft.com/office/drawing/2014/main" id="{94C3D64C-77F6-4601-B573-9A9B6E23BB6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675242" y="2051170"/>
            <a:ext cx="5362575" cy="3532188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BCD17CD-E6D2-4329-B271-1E59AA986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242" y="1418953"/>
            <a:ext cx="5362575" cy="495691"/>
          </a:xfrm>
          <a:prstGeom prst="rect">
            <a:avLst/>
          </a:prstGeom>
        </p:spPr>
        <p:txBody>
          <a:bodyPr rtlCol="0" anchor="ctr"/>
          <a:lstStyle>
            <a:lvl1pPr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783684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認識簡報者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圖片版面配置區 10">
            <a:extLst>
              <a:ext uri="{FF2B5EF4-FFF2-40B4-BE49-F238E27FC236}">
                <a16:creationId xmlns:a16="http://schemas.microsoft.com/office/drawing/2014/main" id="{CD5AE0D9-6B20-4F29-A35B-2A00C25FF8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82906" y="0"/>
            <a:ext cx="4635426" cy="6857999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CC56C8-D828-4A31-A5B9-CF1AEFA70D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71846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accent5">
                    <a:lumMod val="20000"/>
                    <a:lumOff val="8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E0B0264-B3C3-46A0-80DD-67C59DB2A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9230" y="6356350"/>
            <a:ext cx="3152912" cy="365125"/>
          </a:xfrm>
        </p:spPr>
        <p:txBody>
          <a:bodyPr rtlCol="0"/>
          <a:lstStyle>
            <a:lvl1pPr algn="l"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5D3C3B-0FFE-494C-B4AC-477B6A9DA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0344" y="6356350"/>
            <a:ext cx="843455" cy="365125"/>
          </a:xfrm>
        </p:spPr>
        <p:txBody>
          <a:bodyPr rtlCol="0"/>
          <a:lstStyle>
            <a:lvl1pPr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10" name="文字版面配置區 12">
            <a:extLst>
              <a:ext uri="{FF2B5EF4-FFF2-40B4-BE49-F238E27FC236}">
                <a16:creationId xmlns:a16="http://schemas.microsoft.com/office/drawing/2014/main" id="{1285A10A-1880-4D4E-A99B-1C19043F2A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50189" y="1712545"/>
            <a:ext cx="3266975" cy="326687"/>
          </a:xfrm>
          <a:prstGeom prst="rect">
            <a:avLst/>
          </a:prstGeom>
        </p:spPr>
        <p:txBody>
          <a:bodyPr rtlCol="0"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600" b="1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按一下以新增姓名</a:t>
            </a:r>
          </a:p>
        </p:txBody>
      </p:sp>
      <p:sp>
        <p:nvSpPr>
          <p:cNvPr id="11" name="內容版面配置區 15">
            <a:extLst>
              <a:ext uri="{FF2B5EF4-FFF2-40B4-BE49-F238E27FC236}">
                <a16:creationId xmlns:a16="http://schemas.microsoft.com/office/drawing/2014/main" id="{624F1FC7-2617-499A-8CB8-B61FC7D9B7B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749508" y="2756830"/>
            <a:ext cx="4834569" cy="2384195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cxnSp>
        <p:nvCxnSpPr>
          <p:cNvPr id="13" name="直線接點​​(S) 12">
            <a:extLst>
              <a:ext uri="{FF2B5EF4-FFF2-40B4-BE49-F238E27FC236}">
                <a16:creationId xmlns:a16="http://schemas.microsoft.com/office/drawing/2014/main" id="{0B169A36-7DEF-42D4-850F-59A3233F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834" y="0"/>
            <a:ext cx="0" cy="275748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​​(S) 13">
            <a:extLst>
              <a:ext uri="{FF2B5EF4-FFF2-40B4-BE49-F238E27FC236}">
                <a16:creationId xmlns:a16="http://schemas.microsoft.com/office/drawing/2014/main" id="{6CADB6D5-97B3-42ED-B8C7-5AD951CB8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734009" y="1867658"/>
            <a:ext cx="445799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A9B7B60A-1B6C-4E40-94D7-AE1BD3712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810973" y="4189152"/>
            <a:ext cx="3121302" cy="469478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algn="r" rtl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23485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EBFE3E-14BB-4DC6-A806-1E62C1D2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3137" y="1360309"/>
            <a:ext cx="2909309" cy="657882"/>
          </a:xfrm>
          <a:prstGeom prst="rect">
            <a:avLst/>
          </a:prstGeom>
        </p:spPr>
        <p:txBody>
          <a:bodyPr rtlCol="0" anchor="ctr"/>
          <a:lstStyle>
            <a:lvl1pPr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8" name="圖片版面配置區 10">
            <a:extLst>
              <a:ext uri="{FF2B5EF4-FFF2-40B4-BE49-F238E27FC236}">
                <a16:creationId xmlns:a16="http://schemas.microsoft.com/office/drawing/2014/main" id="{EFD7EF65-6DE9-4029-B3A0-F08E11BC9E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2795752"/>
            <a:ext cx="12192000" cy="4062247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10" name="內容版面配置區 15">
            <a:extLst>
              <a:ext uri="{FF2B5EF4-FFF2-40B4-BE49-F238E27FC236}">
                <a16:creationId xmlns:a16="http://schemas.microsoft.com/office/drawing/2014/main" id="{123B9F8E-DAD6-45B2-B55B-B070484318C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09845" y="1075509"/>
            <a:ext cx="5293260" cy="1408770"/>
          </a:xfrm>
          <a:prstGeom prst="rect">
            <a:avLst/>
          </a:prstGeom>
        </p:spPr>
        <p:txBody>
          <a:bodyPr rtlCol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3CF9177-0C51-4496-B5AE-7ED4F8F3A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57A035F-C837-4CCA-BB19-CE656F057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FE2F927-F23D-4ABB-BEC9-11C2CC69D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cxnSp>
        <p:nvCxnSpPr>
          <p:cNvPr id="12" name="直線接點​​(S) 11">
            <a:extLst>
              <a:ext uri="{FF2B5EF4-FFF2-40B4-BE49-F238E27FC236}">
                <a16:creationId xmlns:a16="http://schemas.microsoft.com/office/drawing/2014/main" id="{95244728-2BE1-4CB4-A19E-903E75BD8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689250"/>
            <a:ext cx="1606378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271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組問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接點​​(S) 7">
            <a:extLst>
              <a:ext uri="{FF2B5EF4-FFF2-40B4-BE49-F238E27FC236}">
                <a16:creationId xmlns:a16="http://schemas.microsoft.com/office/drawing/2014/main" id="{B0109947-4B08-4C56-B65B-A6FDFEF47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510815"/>
            <a:ext cx="12192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C387A38D-E82D-42F1-A188-30F49DD50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39785" y="0"/>
            <a:ext cx="0" cy="2514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圖片版面配置區 10">
            <a:extLst>
              <a:ext uri="{FF2B5EF4-FFF2-40B4-BE49-F238E27FC236}">
                <a16:creationId xmlns:a16="http://schemas.microsoft.com/office/drawing/2014/main" id="{1205ABD4-5AFD-4B99-8836-D12AA42FCC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82510" y="0"/>
            <a:ext cx="7609489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080A53F-EFDF-40A3-B9E3-58EB0D3F3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14" name="內容版面配置區 15">
            <a:extLst>
              <a:ext uri="{FF2B5EF4-FFF2-40B4-BE49-F238E27FC236}">
                <a16:creationId xmlns:a16="http://schemas.microsoft.com/office/drawing/2014/main" id="{F547C10E-8A59-4B22-ADF0-994850F759D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017111" y="2906895"/>
            <a:ext cx="4606159" cy="2221291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5" name="頁尾版面配置區 4">
            <a:extLst>
              <a:ext uri="{FF2B5EF4-FFF2-40B4-BE49-F238E27FC236}">
                <a16:creationId xmlns:a16="http://schemas.microsoft.com/office/drawing/2014/main" id="{79DE00E7-8296-408A-905C-ECBA407C8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9230" y="6356350"/>
            <a:ext cx="3152912" cy="365125"/>
          </a:xfrm>
        </p:spPr>
        <p:txBody>
          <a:bodyPr rtlCol="0"/>
          <a:lstStyle>
            <a:lvl1pPr algn="l"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16" name="投影片編號版面配置區 5">
            <a:extLst>
              <a:ext uri="{FF2B5EF4-FFF2-40B4-BE49-F238E27FC236}">
                <a16:creationId xmlns:a16="http://schemas.microsoft.com/office/drawing/2014/main" id="{900B3723-B30F-4BDB-A030-4B06ADE75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0344" y="6356350"/>
            <a:ext cx="843455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E4FA9AB-9D34-43A5-947E-835D7FE29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2" y="2225678"/>
            <a:ext cx="4607268" cy="469476"/>
          </a:xfrm>
          <a:prstGeom prst="rect">
            <a:avLst/>
          </a:prstGeom>
        </p:spPr>
        <p:txBody>
          <a:bodyPr rtlCol="0" anchor="ctr"/>
          <a:lstStyle>
            <a:lvl1pPr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44523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圖片版面配置區 10">
            <a:extLst>
              <a:ext uri="{FF2B5EF4-FFF2-40B4-BE49-F238E27FC236}">
                <a16:creationId xmlns:a16="http://schemas.microsoft.com/office/drawing/2014/main" id="{840FD269-E069-45DA-B668-BE984BFA32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AB9DE71-7B7A-4473-ABD8-99575CAFB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AAA1C9B-284B-4C89-8743-52285AC95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BC1FE06-5B3A-40E2-82AA-E4516ED2D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7" name="文字版面配置區 12">
            <a:extLst>
              <a:ext uri="{FF2B5EF4-FFF2-40B4-BE49-F238E27FC236}">
                <a16:creationId xmlns:a16="http://schemas.microsoft.com/office/drawing/2014/main" id="{2ACE5847-B709-473D-A366-54ADA852FF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05107" y="3055535"/>
            <a:ext cx="7981786" cy="2609103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3200" i="1" spc="10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按一下以新增標題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48B1850-15F7-414E-B8F6-3A5B3D10B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0083" y="5448575"/>
            <a:ext cx="4881563" cy="463550"/>
          </a:xfrm>
          <a:prstGeom prst="rect">
            <a:avLst/>
          </a:prstGeom>
        </p:spPr>
        <p:txBody>
          <a:bodyPr rtlCol="0"/>
          <a:lstStyle>
            <a:lvl1pPr algn="r">
              <a:defRPr lang="en-US" sz="1800" spc="100" baseline="0"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+mn-cs"/>
              </a:defRPr>
            </a:lvl1pPr>
          </a:lstStyle>
          <a:p>
            <a:pPr marL="0" lvl="0" indent="0" algn="r" rtl="0">
              <a:spcBef>
                <a:spcPts val="100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000568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假設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50796CDC-3154-4ACA-A920-8CBE431C2A1A}"/>
              </a:ext>
            </a:extLst>
          </p:cNvPr>
          <p:cNvSpPr/>
          <p:nvPr userDrawn="1"/>
        </p:nvSpPr>
        <p:spPr>
          <a:xfrm>
            <a:off x="0" y="0"/>
            <a:ext cx="4687614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95FA8B4-F9F3-4FF5-B11F-483A1B95E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97B8F04-28A5-462E-86DE-06C37E405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8B2DAE-4645-4AA0-87C9-39874FDBD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6" name="內容版面配置區 15">
            <a:extLst>
              <a:ext uri="{FF2B5EF4-FFF2-40B4-BE49-F238E27FC236}">
                <a16:creationId xmlns:a16="http://schemas.microsoft.com/office/drawing/2014/main" id="{3BB9146A-68F5-433B-8411-A12C7C8F78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747641" y="1193612"/>
            <a:ext cx="3513083" cy="1400506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按一下以新增文字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270974D-DE65-42B3-BEB4-235503245B26}"/>
              </a:ext>
            </a:extLst>
          </p:cNvPr>
          <p:cNvSpPr/>
          <p:nvPr userDrawn="1"/>
        </p:nvSpPr>
        <p:spPr>
          <a:xfrm>
            <a:off x="6360072" y="924801"/>
            <a:ext cx="4288221" cy="2043229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8" name="內容版面配置區 15">
            <a:extLst>
              <a:ext uri="{FF2B5EF4-FFF2-40B4-BE49-F238E27FC236}">
                <a16:creationId xmlns:a16="http://schemas.microsoft.com/office/drawing/2014/main" id="{5BA888A7-F91E-4923-AB10-31BEF8C2FEB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747641" y="4120055"/>
            <a:ext cx="3513083" cy="1185839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按一下以新增文字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6803CCC-79BF-4752-81AA-D68AB023A6B6}"/>
              </a:ext>
            </a:extLst>
          </p:cNvPr>
          <p:cNvSpPr/>
          <p:nvPr userDrawn="1"/>
        </p:nvSpPr>
        <p:spPr>
          <a:xfrm>
            <a:off x="6360072" y="3584028"/>
            <a:ext cx="4288221" cy="2043229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cxnSp>
        <p:nvCxnSpPr>
          <p:cNvPr id="11" name="直線接點​​(S) 10">
            <a:extLst>
              <a:ext uri="{FF2B5EF4-FFF2-40B4-BE49-F238E27FC236}">
                <a16:creationId xmlns:a16="http://schemas.microsoft.com/office/drawing/2014/main" id="{6ECBC35A-FE4E-467A-A20D-9063B371CA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03095" y="0"/>
            <a:ext cx="0" cy="370473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標題 11">
            <a:extLst>
              <a:ext uri="{FF2B5EF4-FFF2-40B4-BE49-F238E27FC236}">
                <a16:creationId xmlns:a16="http://schemas.microsoft.com/office/drawing/2014/main" id="{A4FC0018-1CBF-4BC0-BE79-B983651D8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1005213" y="4932422"/>
            <a:ext cx="2635209" cy="523708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2400" spc="10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algn="r" rtl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627448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訊工具的百分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B06ACE2-BA16-48C7-A451-845668BC0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09B479B-4CEB-47DB-903C-2E2D2445E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C6F2130-E7AA-4706-B388-47F7E032B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311573-5DB1-44CE-818B-9E5F570408F1}"/>
              </a:ext>
            </a:extLst>
          </p:cNvPr>
          <p:cNvSpPr/>
          <p:nvPr userDrawn="1"/>
        </p:nvSpPr>
        <p:spPr>
          <a:xfrm>
            <a:off x="638177" y="631627"/>
            <a:ext cx="10915645" cy="558819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19" name="內容版面配置區 15">
            <a:extLst>
              <a:ext uri="{FF2B5EF4-FFF2-40B4-BE49-F238E27FC236}">
                <a16:creationId xmlns:a16="http://schemas.microsoft.com/office/drawing/2014/main" id="{6E328664-C733-476A-81C6-2A0B15B001A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029158" y="2838122"/>
            <a:ext cx="1786759" cy="430923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0" name="內容版面配置區 15">
            <a:extLst>
              <a:ext uri="{FF2B5EF4-FFF2-40B4-BE49-F238E27FC236}">
                <a16:creationId xmlns:a16="http://schemas.microsoft.com/office/drawing/2014/main" id="{4DA6C57C-E2CB-484E-94E6-9AB8DC7DB4C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029158" y="3379435"/>
            <a:ext cx="1786759" cy="430923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1" name="內容版面配置區 15">
            <a:extLst>
              <a:ext uri="{FF2B5EF4-FFF2-40B4-BE49-F238E27FC236}">
                <a16:creationId xmlns:a16="http://schemas.microsoft.com/office/drawing/2014/main" id="{97E74E6E-CDEF-424A-B7CE-5B34A0AC34D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029158" y="3928699"/>
            <a:ext cx="1786759" cy="430923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2" name="內容版面配置區 15">
            <a:extLst>
              <a:ext uri="{FF2B5EF4-FFF2-40B4-BE49-F238E27FC236}">
                <a16:creationId xmlns:a16="http://schemas.microsoft.com/office/drawing/2014/main" id="{E7A1AA76-7517-4C53-B2A4-EE8B1C6ADDD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029158" y="4476966"/>
            <a:ext cx="1786759" cy="430923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7" name="文字版面配置區 12">
            <a:extLst>
              <a:ext uri="{FF2B5EF4-FFF2-40B4-BE49-F238E27FC236}">
                <a16:creationId xmlns:a16="http://schemas.microsoft.com/office/drawing/2014/main" id="{273C9D83-2282-43F4-BB54-7CDA96B455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98588" y="1307183"/>
            <a:ext cx="1783393" cy="178305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2400" b="0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 dirty="0"/>
              <a:t>#</a:t>
            </a:r>
          </a:p>
        </p:txBody>
      </p:sp>
      <p:sp>
        <p:nvSpPr>
          <p:cNvPr id="38" name="文字版面配置區 12">
            <a:extLst>
              <a:ext uri="{FF2B5EF4-FFF2-40B4-BE49-F238E27FC236}">
                <a16:creationId xmlns:a16="http://schemas.microsoft.com/office/drawing/2014/main" id="{90C1AC4A-23E9-4676-A30E-E39B4342FF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98588" y="3703828"/>
            <a:ext cx="1783393" cy="178305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2400" b="0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/>
              <a:t>#</a:t>
            </a:r>
          </a:p>
        </p:txBody>
      </p:sp>
      <p:sp>
        <p:nvSpPr>
          <p:cNvPr id="39" name="文字版面配置區 12">
            <a:extLst>
              <a:ext uri="{FF2B5EF4-FFF2-40B4-BE49-F238E27FC236}">
                <a16:creationId xmlns:a16="http://schemas.microsoft.com/office/drawing/2014/main" id="{2C256BCC-FED6-4D75-8C65-5967DD2E01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33309" y="1307183"/>
            <a:ext cx="1783393" cy="178305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2400" b="0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/>
              <a:t>#</a:t>
            </a:r>
          </a:p>
        </p:txBody>
      </p:sp>
      <p:sp>
        <p:nvSpPr>
          <p:cNvPr id="40" name="文字版面配置區 12">
            <a:extLst>
              <a:ext uri="{FF2B5EF4-FFF2-40B4-BE49-F238E27FC236}">
                <a16:creationId xmlns:a16="http://schemas.microsoft.com/office/drawing/2014/main" id="{036A0378-B8F0-463A-A66D-83D798223E3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33309" y="3703828"/>
            <a:ext cx="1783393" cy="178305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2400" b="0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/>
              <a:t>#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2BDF22D-6760-4BDD-92EF-E940DCC02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7697" y="1369287"/>
            <a:ext cx="4079564" cy="1268810"/>
          </a:xfrm>
          <a:prstGeom prst="rect">
            <a:avLst/>
          </a:prstGeom>
        </p:spPr>
        <p:txBody>
          <a:bodyPr rtlCol="0" anchor="ctr"/>
          <a:lstStyle>
            <a:lvl1pPr>
              <a:lnSpc>
                <a:spcPct val="125000"/>
              </a:lnSpc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295802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製作出色的產品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EBAADBBE-F1E3-480E-BE79-B55DEF941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97500" y="2009775"/>
            <a:ext cx="6794499" cy="28384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9" name="圖片版面配置區 8">
            <a:extLst>
              <a:ext uri="{FF2B5EF4-FFF2-40B4-BE49-F238E27FC236}">
                <a16:creationId xmlns:a16="http://schemas.microsoft.com/office/drawing/2014/main" id="{A4C868C7-0B77-47B8-9C16-7F97AA9F0D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311899" cy="6858000"/>
          </a:xfrm>
          <a:custGeom>
            <a:avLst/>
            <a:gdLst>
              <a:gd name="connsiteX0" fmla="*/ 0 w 6311899"/>
              <a:gd name="connsiteY0" fmla="*/ 0 h 6858000"/>
              <a:gd name="connsiteX1" fmla="*/ 6311899 w 6311899"/>
              <a:gd name="connsiteY1" fmla="*/ 0 h 6858000"/>
              <a:gd name="connsiteX2" fmla="*/ 6311899 w 6311899"/>
              <a:gd name="connsiteY2" fmla="*/ 2009775 h 6858000"/>
              <a:gd name="connsiteX3" fmla="*/ 5397499 w 6311899"/>
              <a:gd name="connsiteY3" fmla="*/ 2009775 h 6858000"/>
              <a:gd name="connsiteX4" fmla="*/ 5397499 w 6311899"/>
              <a:gd name="connsiteY4" fmla="*/ 4848225 h 6858000"/>
              <a:gd name="connsiteX5" fmla="*/ 6311899 w 6311899"/>
              <a:gd name="connsiteY5" fmla="*/ 4848225 h 6858000"/>
              <a:gd name="connsiteX6" fmla="*/ 6311899 w 6311899"/>
              <a:gd name="connsiteY6" fmla="*/ 6858000 h 6858000"/>
              <a:gd name="connsiteX7" fmla="*/ 0 w 63118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11899" h="6858000">
                <a:moveTo>
                  <a:pt x="0" y="0"/>
                </a:moveTo>
                <a:lnTo>
                  <a:pt x="6311899" y="0"/>
                </a:lnTo>
                <a:lnTo>
                  <a:pt x="6311899" y="2009775"/>
                </a:lnTo>
                <a:lnTo>
                  <a:pt x="5397499" y="2009775"/>
                </a:lnTo>
                <a:lnTo>
                  <a:pt x="5397499" y="4848225"/>
                </a:lnTo>
                <a:lnTo>
                  <a:pt x="6311899" y="4848225"/>
                </a:lnTo>
                <a:lnTo>
                  <a:pt x="631189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F4198D5-23F4-441A-AD0A-C6CD015E9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16" name="內容版面配置區 15">
            <a:extLst>
              <a:ext uri="{FF2B5EF4-FFF2-40B4-BE49-F238E27FC236}">
                <a16:creationId xmlns:a16="http://schemas.microsoft.com/office/drawing/2014/main" id="{8E5DAC80-95FC-4BA1-98B2-5631FB3B019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337298" y="3200401"/>
            <a:ext cx="5257799" cy="1701800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2" name="頁尾版面配置區 4">
            <a:extLst>
              <a:ext uri="{FF2B5EF4-FFF2-40B4-BE49-F238E27FC236}">
                <a16:creationId xmlns:a16="http://schemas.microsoft.com/office/drawing/2014/main" id="{464448FE-96B4-43C5-8721-4FBF69ED4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9230" y="6356350"/>
            <a:ext cx="3152912" cy="365125"/>
          </a:xfrm>
        </p:spPr>
        <p:txBody>
          <a:bodyPr rtlCol="0"/>
          <a:lstStyle>
            <a:lvl1pPr algn="l"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13" name="投影片編號版面配置區 5">
            <a:extLst>
              <a:ext uri="{FF2B5EF4-FFF2-40B4-BE49-F238E27FC236}">
                <a16:creationId xmlns:a16="http://schemas.microsoft.com/office/drawing/2014/main" id="{F8104834-0355-4576-A9E5-FF5B92B3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0344" y="6356350"/>
            <a:ext cx="843455" cy="365125"/>
          </a:xfrm>
        </p:spPr>
        <p:txBody>
          <a:bodyPr rtlCol="0"/>
          <a:lstStyle>
            <a:lvl1pPr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AD2D377-D829-49CC-9253-683054B90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298" y="2063075"/>
            <a:ext cx="5257799" cy="1268810"/>
          </a:xfrm>
          <a:prstGeom prst="rect">
            <a:avLst/>
          </a:prstGeom>
        </p:spPr>
        <p:txBody>
          <a:bodyPr rtlCol="0" anchor="ctr"/>
          <a:lstStyle>
            <a:lvl1pPr>
              <a:defRPr lang="en-US" sz="2400" spc="10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548123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 Contoso 與競爭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圖片版面配置區 10">
            <a:extLst>
              <a:ext uri="{FF2B5EF4-FFF2-40B4-BE49-F238E27FC236}">
                <a16:creationId xmlns:a16="http://schemas.microsoft.com/office/drawing/2014/main" id="{995D6E1F-61DD-45C8-BD0F-87774F3858F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A3F1E30-78A1-4D04-868B-2FF65A0CD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A92EE5A-2D26-4A38-BF97-6266BFC42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11" name="內容版面配置區 15">
            <a:extLst>
              <a:ext uri="{FF2B5EF4-FFF2-40B4-BE49-F238E27FC236}">
                <a16:creationId xmlns:a16="http://schemas.microsoft.com/office/drawing/2014/main" id="{716CE84D-B2FA-4712-9112-9A6349EE051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1008686" y="2921932"/>
            <a:ext cx="4114800" cy="1268810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3" name="內容版面配置區 15">
            <a:extLst>
              <a:ext uri="{FF2B5EF4-FFF2-40B4-BE49-F238E27FC236}">
                <a16:creationId xmlns:a16="http://schemas.microsoft.com/office/drawing/2014/main" id="{5EB29FAF-F8EE-4156-8E07-E14DFBABA09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008686" y="4327267"/>
            <a:ext cx="4114800" cy="1268810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FC5BC42-EC33-40D4-8189-69F1D23AD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686" y="1516597"/>
            <a:ext cx="3980182" cy="1268810"/>
          </a:xfrm>
          <a:prstGeom prst="rect">
            <a:avLst/>
          </a:prstGeom>
        </p:spPr>
        <p:txBody>
          <a:bodyPr rtlCol="0" anchor="ctr"/>
          <a:lstStyle>
            <a:lvl1pPr>
              <a:lnSpc>
                <a:spcPct val="125000"/>
              </a:lnSpc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998323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歷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0415A3-6E46-4BC3-B867-3A6A61D0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1ADF53-2713-40AC-9CC8-AA83770C9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BD08A84-ADB1-42C6-A7B1-E5C5A728B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15" name="文字版面配置區 14">
            <a:extLst>
              <a:ext uri="{FF2B5EF4-FFF2-40B4-BE49-F238E27FC236}">
                <a16:creationId xmlns:a16="http://schemas.microsoft.com/office/drawing/2014/main" id="{09C0924B-E154-4A9E-830A-0CED0F96BA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12346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6" name="文字版面配置區 14">
            <a:extLst>
              <a:ext uri="{FF2B5EF4-FFF2-40B4-BE49-F238E27FC236}">
                <a16:creationId xmlns:a16="http://schemas.microsoft.com/office/drawing/2014/main" id="{09FC371A-791E-4A18-A05F-62DAAB144F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01761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7" name="文字版面配置區 14">
            <a:extLst>
              <a:ext uri="{FF2B5EF4-FFF2-40B4-BE49-F238E27FC236}">
                <a16:creationId xmlns:a16="http://schemas.microsoft.com/office/drawing/2014/main" id="{7370EA53-C218-4777-8992-DFE61FD94A5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91176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8" name="文字版面配置區 14">
            <a:extLst>
              <a:ext uri="{FF2B5EF4-FFF2-40B4-BE49-F238E27FC236}">
                <a16:creationId xmlns:a16="http://schemas.microsoft.com/office/drawing/2014/main" id="{52263598-CA5C-4D32-8005-69A3003C53F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0591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9" name="文字版面配置區 14">
            <a:extLst>
              <a:ext uri="{FF2B5EF4-FFF2-40B4-BE49-F238E27FC236}">
                <a16:creationId xmlns:a16="http://schemas.microsoft.com/office/drawing/2014/main" id="{04255F76-4757-4D5C-80D7-A3307CEBC13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0807" y="3093970"/>
            <a:ext cx="61531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0" name="文字版面配置區 14">
            <a:extLst>
              <a:ext uri="{FF2B5EF4-FFF2-40B4-BE49-F238E27FC236}">
                <a16:creationId xmlns:a16="http://schemas.microsoft.com/office/drawing/2014/main" id="{6948AE7E-55CC-4F22-9239-099E8E8EF2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59421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1" name="文字版面配置區 14">
            <a:extLst>
              <a:ext uri="{FF2B5EF4-FFF2-40B4-BE49-F238E27FC236}">
                <a16:creationId xmlns:a16="http://schemas.microsoft.com/office/drawing/2014/main" id="{D91E6446-232F-4870-8335-C708DDB3E7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48836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2" name="文字版面配置區 14">
            <a:extLst>
              <a:ext uri="{FF2B5EF4-FFF2-40B4-BE49-F238E27FC236}">
                <a16:creationId xmlns:a16="http://schemas.microsoft.com/office/drawing/2014/main" id="{6A3A8254-B2DC-4C36-8E81-397E7CB3EC0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38251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3" name="文字版面配置區 14">
            <a:extLst>
              <a:ext uri="{FF2B5EF4-FFF2-40B4-BE49-F238E27FC236}">
                <a16:creationId xmlns:a16="http://schemas.microsoft.com/office/drawing/2014/main" id="{048C7215-4A75-4BF9-96EC-BEA9AA1239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27666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4" name="文字版面配置區 14">
            <a:extLst>
              <a:ext uri="{FF2B5EF4-FFF2-40B4-BE49-F238E27FC236}">
                <a16:creationId xmlns:a16="http://schemas.microsoft.com/office/drawing/2014/main" id="{C2FA34D0-4280-4201-9E40-5FE0D81D7DC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17081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5" name="文字版面配置區 14">
            <a:extLst>
              <a:ext uri="{FF2B5EF4-FFF2-40B4-BE49-F238E27FC236}">
                <a16:creationId xmlns:a16="http://schemas.microsoft.com/office/drawing/2014/main" id="{BD0D6DFA-0AE8-42A3-ADA8-785B98B99E4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606496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6" name="文字版面配置區 14">
            <a:extLst>
              <a:ext uri="{FF2B5EF4-FFF2-40B4-BE49-F238E27FC236}">
                <a16:creationId xmlns:a16="http://schemas.microsoft.com/office/drawing/2014/main" id="{7E475D18-842D-4508-9049-99A36DA3895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95907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7" name="文字版面配置區 14">
            <a:extLst>
              <a:ext uri="{FF2B5EF4-FFF2-40B4-BE49-F238E27FC236}">
                <a16:creationId xmlns:a16="http://schemas.microsoft.com/office/drawing/2014/main" id="{F7A2B249-C1B4-4F5F-9C74-B3763CCFC8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12346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8" name="文字版面配置區 14">
            <a:extLst>
              <a:ext uri="{FF2B5EF4-FFF2-40B4-BE49-F238E27FC236}">
                <a16:creationId xmlns:a16="http://schemas.microsoft.com/office/drawing/2014/main" id="{64240E02-7397-4BFB-923B-4E4A96C7C81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01761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9" name="文字版面配置區 14">
            <a:extLst>
              <a:ext uri="{FF2B5EF4-FFF2-40B4-BE49-F238E27FC236}">
                <a16:creationId xmlns:a16="http://schemas.microsoft.com/office/drawing/2014/main" id="{41400094-84D6-4303-BA4B-0E0D1FF018E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91176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0" name="文字版面配置區 14">
            <a:extLst>
              <a:ext uri="{FF2B5EF4-FFF2-40B4-BE49-F238E27FC236}">
                <a16:creationId xmlns:a16="http://schemas.microsoft.com/office/drawing/2014/main" id="{AAF6E8A4-DDDD-49A1-B1C9-3574B58A83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80591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1" name="文字版面配置區 14">
            <a:extLst>
              <a:ext uri="{FF2B5EF4-FFF2-40B4-BE49-F238E27FC236}">
                <a16:creationId xmlns:a16="http://schemas.microsoft.com/office/drawing/2014/main" id="{D9AB8D6A-C296-4468-9A7D-7F46B3642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10807" y="4795797"/>
            <a:ext cx="61531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2" name="文字版面配置區 14">
            <a:extLst>
              <a:ext uri="{FF2B5EF4-FFF2-40B4-BE49-F238E27FC236}">
                <a16:creationId xmlns:a16="http://schemas.microsoft.com/office/drawing/2014/main" id="{D17C8109-2F1A-4248-BE14-FE5D4AE1E35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59421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3" name="文字版面配置區 14">
            <a:extLst>
              <a:ext uri="{FF2B5EF4-FFF2-40B4-BE49-F238E27FC236}">
                <a16:creationId xmlns:a16="http://schemas.microsoft.com/office/drawing/2014/main" id="{5735C006-B8AC-427F-A337-4F607EB5431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8836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4" name="文字版面配置區 14">
            <a:extLst>
              <a:ext uri="{FF2B5EF4-FFF2-40B4-BE49-F238E27FC236}">
                <a16:creationId xmlns:a16="http://schemas.microsoft.com/office/drawing/2014/main" id="{B62C7805-F615-4B77-89DD-63F1F946E78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38251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5" name="文字版面配置區 14">
            <a:extLst>
              <a:ext uri="{FF2B5EF4-FFF2-40B4-BE49-F238E27FC236}">
                <a16:creationId xmlns:a16="http://schemas.microsoft.com/office/drawing/2014/main" id="{7B0BABA0-0326-410E-AECF-0D41365DD47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27666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6" name="文字版面配置區 14">
            <a:extLst>
              <a:ext uri="{FF2B5EF4-FFF2-40B4-BE49-F238E27FC236}">
                <a16:creationId xmlns:a16="http://schemas.microsoft.com/office/drawing/2014/main" id="{9E4FCBEC-4348-4D10-B139-FD526C86B17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17081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7" name="文字版面配置區 14">
            <a:extLst>
              <a:ext uri="{FF2B5EF4-FFF2-40B4-BE49-F238E27FC236}">
                <a16:creationId xmlns:a16="http://schemas.microsoft.com/office/drawing/2014/main" id="{DA4FA8D2-F1E5-4A88-855F-84D521DB704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06496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8" name="文字版面配置區 14">
            <a:extLst>
              <a:ext uri="{FF2B5EF4-FFF2-40B4-BE49-F238E27FC236}">
                <a16:creationId xmlns:a16="http://schemas.microsoft.com/office/drawing/2014/main" id="{7E27FFDC-7B67-4C2F-8712-C7961E6E9A9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395907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51" name="文字版面配置區 14">
            <a:extLst>
              <a:ext uri="{FF2B5EF4-FFF2-40B4-BE49-F238E27FC236}">
                <a16:creationId xmlns:a16="http://schemas.microsoft.com/office/drawing/2014/main" id="{B098AA04-538E-4D0B-BC5E-3C79B451D15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6804" y="2672211"/>
            <a:ext cx="1021001" cy="501726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2000" cap="all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新增年份</a:t>
            </a:r>
          </a:p>
        </p:txBody>
      </p:sp>
      <p:sp>
        <p:nvSpPr>
          <p:cNvPr id="52" name="文字版面配置區 14">
            <a:extLst>
              <a:ext uri="{FF2B5EF4-FFF2-40B4-BE49-F238E27FC236}">
                <a16:creationId xmlns:a16="http://schemas.microsoft.com/office/drawing/2014/main" id="{80992CBE-A6F0-4FF1-8F4F-84B050480AD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6804" y="4361409"/>
            <a:ext cx="1021001" cy="501726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2000" cap="all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新增年份</a:t>
            </a:r>
          </a:p>
        </p:txBody>
      </p:sp>
      <p:sp>
        <p:nvSpPr>
          <p:cNvPr id="53" name="文字版面配置區 14">
            <a:extLst>
              <a:ext uri="{FF2B5EF4-FFF2-40B4-BE49-F238E27FC236}">
                <a16:creationId xmlns:a16="http://schemas.microsoft.com/office/drawing/2014/main" id="{738B60B3-540F-4900-A4BB-0B521A1F75C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029367" y="2067200"/>
            <a:ext cx="1440088" cy="469597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54" name="文字版面配置區 14">
            <a:extLst>
              <a:ext uri="{FF2B5EF4-FFF2-40B4-BE49-F238E27FC236}">
                <a16:creationId xmlns:a16="http://schemas.microsoft.com/office/drawing/2014/main" id="{FD7D7797-7938-4D6E-B5A4-21536E2021E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97612" y="2067200"/>
            <a:ext cx="1440088" cy="469597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55" name="文字版面配置區 14">
            <a:extLst>
              <a:ext uri="{FF2B5EF4-FFF2-40B4-BE49-F238E27FC236}">
                <a16:creationId xmlns:a16="http://schemas.microsoft.com/office/drawing/2014/main" id="{F7B339B7-1A20-4B38-8EAE-3C98E757DA3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44687" y="2067200"/>
            <a:ext cx="1440088" cy="469597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56" name="文字版面配置區 14">
            <a:extLst>
              <a:ext uri="{FF2B5EF4-FFF2-40B4-BE49-F238E27FC236}">
                <a16:creationId xmlns:a16="http://schemas.microsoft.com/office/drawing/2014/main" id="{3D0B1401-F4EC-4750-A2AA-34CD72504AC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029367" y="3869787"/>
            <a:ext cx="1440088" cy="408780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57" name="文字版面配置區 14">
            <a:extLst>
              <a:ext uri="{FF2B5EF4-FFF2-40B4-BE49-F238E27FC236}">
                <a16:creationId xmlns:a16="http://schemas.microsoft.com/office/drawing/2014/main" id="{25C7DA61-BA93-48EE-BB6E-9E5D96271AC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76442" y="3869787"/>
            <a:ext cx="1440088" cy="408780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none" spc="100" baseline="0">
                <a:solidFill>
                  <a:schemeClr val="accent6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58" name="文字版面配置區 14">
            <a:extLst>
              <a:ext uri="{FF2B5EF4-FFF2-40B4-BE49-F238E27FC236}">
                <a16:creationId xmlns:a16="http://schemas.microsoft.com/office/drawing/2014/main" id="{6B7F232D-8C58-4A29-8A95-52E6B74C053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923517" y="3869787"/>
            <a:ext cx="1440088" cy="408780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cxnSp>
        <p:nvCxnSpPr>
          <p:cNvPr id="102" name="直線接點​​(S) 101">
            <a:extLst>
              <a:ext uri="{FF2B5EF4-FFF2-40B4-BE49-F238E27FC236}">
                <a16:creationId xmlns:a16="http://schemas.microsoft.com/office/drawing/2014/main" id="{F2334811-4848-4246-ACD8-273541203B2A}"/>
              </a:ext>
            </a:extLst>
          </p:cNvPr>
          <p:cNvCxnSpPr>
            <a:cxnSpLocks/>
          </p:cNvCxnSpPr>
          <p:nvPr userDrawn="1"/>
        </p:nvCxnSpPr>
        <p:spPr>
          <a:xfrm>
            <a:off x="0" y="755452"/>
            <a:ext cx="10330626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45E76D73-D506-4E6B-A789-AB87E732A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0418" y="100579"/>
            <a:ext cx="1943381" cy="1268811"/>
          </a:xfrm>
          <a:prstGeom prst="rect">
            <a:avLst/>
          </a:prstGeom>
        </p:spPr>
        <p:txBody>
          <a:bodyPr rtlCol="0" anchor="ctr"/>
          <a:lstStyle>
            <a:lvl1pPr algn="r">
              <a:lnSpc>
                <a:spcPct val="125000"/>
              </a:lnSpc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algn="r" rtl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9277009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重要心得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圖片版面配置區 10">
            <a:extLst>
              <a:ext uri="{FF2B5EF4-FFF2-40B4-BE49-F238E27FC236}">
                <a16:creationId xmlns:a16="http://schemas.microsoft.com/office/drawing/2014/main" id="{A3D8856B-7A24-4C55-9910-ED81BFA0A0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0415A3-6E46-4BC3-B867-3A6A61D0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9" name="內容版面配置區 15">
            <a:extLst>
              <a:ext uri="{FF2B5EF4-FFF2-40B4-BE49-F238E27FC236}">
                <a16:creationId xmlns:a16="http://schemas.microsoft.com/office/drawing/2014/main" id="{3B3118EB-9968-4E6E-B2B6-A76765DCFA4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101509" y="2431279"/>
            <a:ext cx="4288971" cy="3055121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0" name="頁尾版面配置區 4">
            <a:extLst>
              <a:ext uri="{FF2B5EF4-FFF2-40B4-BE49-F238E27FC236}">
                <a16:creationId xmlns:a16="http://schemas.microsoft.com/office/drawing/2014/main" id="{3ABAA64D-DEC0-453B-A9D7-7183AF0CE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9230" y="6356350"/>
            <a:ext cx="3152912" cy="365125"/>
          </a:xfrm>
        </p:spPr>
        <p:txBody>
          <a:bodyPr rtlCol="0"/>
          <a:lstStyle>
            <a:lvl1pPr algn="l"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11" name="投影片編號版面配置區 5">
            <a:extLst>
              <a:ext uri="{FF2B5EF4-FFF2-40B4-BE49-F238E27FC236}">
                <a16:creationId xmlns:a16="http://schemas.microsoft.com/office/drawing/2014/main" id="{F74F7F62-A2D6-471E-83D8-44BA2699C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0344" y="6356350"/>
            <a:ext cx="843455" cy="365125"/>
          </a:xfrm>
        </p:spPr>
        <p:txBody>
          <a:bodyPr rtlCol="0"/>
          <a:lstStyle>
            <a:lvl1pPr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cxnSp>
        <p:nvCxnSpPr>
          <p:cNvPr id="12" name="直線接點​​(S) 11">
            <a:extLst>
              <a:ext uri="{FF2B5EF4-FFF2-40B4-BE49-F238E27FC236}">
                <a16:creationId xmlns:a16="http://schemas.microsoft.com/office/drawing/2014/main" id="{CF88F189-31A8-4BA7-80D9-4A40A4E2B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34820" y="-3976"/>
            <a:ext cx="0" cy="215934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14EE86B4-3F11-45CB-96F9-7D1AB761A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1506" y="1761891"/>
            <a:ext cx="4288971" cy="532862"/>
          </a:xfrm>
          <a:prstGeom prst="rect">
            <a:avLst/>
          </a:prstGeom>
        </p:spPr>
        <p:txBody>
          <a:bodyPr rtlCol="0" anchor="ctr"/>
          <a:lstStyle>
            <a:lvl1pPr>
              <a:lnSpc>
                <a:spcPct val="125000"/>
              </a:lnSpc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6627309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適用于企業的秘訣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圖片版面配置區 10">
            <a:extLst>
              <a:ext uri="{FF2B5EF4-FFF2-40B4-BE49-F238E27FC236}">
                <a16:creationId xmlns:a16="http://schemas.microsoft.com/office/drawing/2014/main" id="{60ED5431-1075-4889-87EB-D79FFE50960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2804630"/>
            <a:ext cx="12192000" cy="4062247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0415A3-6E46-4BC3-B867-3A6A61D0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1ADF53-2713-40AC-9CC8-AA83770C9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BD08A84-ADB1-42C6-A7B1-E5C5A728B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10" name="內容版面配置區 15">
            <a:extLst>
              <a:ext uri="{FF2B5EF4-FFF2-40B4-BE49-F238E27FC236}">
                <a16:creationId xmlns:a16="http://schemas.microsoft.com/office/drawing/2014/main" id="{E7CC669C-5E68-40A8-8F59-E044A32F4B3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09845" y="999340"/>
            <a:ext cx="5578870" cy="1408770"/>
          </a:xfrm>
          <a:prstGeom prst="rect">
            <a:avLst/>
          </a:prstGeom>
        </p:spPr>
        <p:txBody>
          <a:bodyPr rtlCol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cxnSp>
        <p:nvCxnSpPr>
          <p:cNvPr id="8" name="直線接點​​(S) 7">
            <a:extLst>
              <a:ext uri="{FF2B5EF4-FFF2-40B4-BE49-F238E27FC236}">
                <a16:creationId xmlns:a16="http://schemas.microsoft.com/office/drawing/2014/main" id="{93EEC13B-7926-4108-B0C5-F3A2A5AE69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689250"/>
            <a:ext cx="1606378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0C546480-8B8D-4EF8-8C6A-DFFAC2755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1559" y="1352736"/>
            <a:ext cx="3037792" cy="657883"/>
          </a:xfrm>
          <a:prstGeom prst="rect">
            <a:avLst/>
          </a:prstGeom>
        </p:spPr>
        <p:txBody>
          <a:bodyPr rtlCol="0" anchor="ctr"/>
          <a:lstStyle>
            <a:lvl1pPr algn="l">
              <a:lnSpc>
                <a:spcPct val="100000"/>
              </a:lnSpc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3278963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採取行動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415B931B-7725-4C86-A82C-07F42F447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97500" y="2009775"/>
            <a:ext cx="6794499" cy="28384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13" name="圖片版面配置區 12">
            <a:extLst>
              <a:ext uri="{FF2B5EF4-FFF2-40B4-BE49-F238E27FC236}">
                <a16:creationId xmlns:a16="http://schemas.microsoft.com/office/drawing/2014/main" id="{116D3891-B2BA-4AE6-AAA7-560547F4B5E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311899" cy="6858000"/>
          </a:xfrm>
          <a:custGeom>
            <a:avLst/>
            <a:gdLst>
              <a:gd name="connsiteX0" fmla="*/ 0 w 6311899"/>
              <a:gd name="connsiteY0" fmla="*/ 0 h 6858000"/>
              <a:gd name="connsiteX1" fmla="*/ 6311899 w 6311899"/>
              <a:gd name="connsiteY1" fmla="*/ 0 h 6858000"/>
              <a:gd name="connsiteX2" fmla="*/ 6311899 w 6311899"/>
              <a:gd name="connsiteY2" fmla="*/ 2009775 h 6858000"/>
              <a:gd name="connsiteX3" fmla="*/ 5397499 w 6311899"/>
              <a:gd name="connsiteY3" fmla="*/ 2009775 h 6858000"/>
              <a:gd name="connsiteX4" fmla="*/ 5397499 w 6311899"/>
              <a:gd name="connsiteY4" fmla="*/ 4848225 h 6858000"/>
              <a:gd name="connsiteX5" fmla="*/ 6311899 w 6311899"/>
              <a:gd name="connsiteY5" fmla="*/ 4848225 h 6858000"/>
              <a:gd name="connsiteX6" fmla="*/ 6311899 w 6311899"/>
              <a:gd name="connsiteY6" fmla="*/ 6858000 h 6858000"/>
              <a:gd name="connsiteX7" fmla="*/ 0 w 63118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11899" h="6858000">
                <a:moveTo>
                  <a:pt x="0" y="0"/>
                </a:moveTo>
                <a:lnTo>
                  <a:pt x="6311899" y="0"/>
                </a:lnTo>
                <a:lnTo>
                  <a:pt x="6311899" y="2009775"/>
                </a:lnTo>
                <a:lnTo>
                  <a:pt x="5397499" y="2009775"/>
                </a:lnTo>
                <a:lnTo>
                  <a:pt x="5397499" y="4848225"/>
                </a:lnTo>
                <a:lnTo>
                  <a:pt x="6311899" y="4848225"/>
                </a:lnTo>
                <a:lnTo>
                  <a:pt x="631189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0415A3-6E46-4BC3-B867-3A6A61D0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8" name="頁尾版面配置區 4">
            <a:extLst>
              <a:ext uri="{FF2B5EF4-FFF2-40B4-BE49-F238E27FC236}">
                <a16:creationId xmlns:a16="http://schemas.microsoft.com/office/drawing/2014/main" id="{89831967-45C9-40AF-A955-56E9578BC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9230" y="6356350"/>
            <a:ext cx="3152912" cy="365125"/>
          </a:xfrm>
        </p:spPr>
        <p:txBody>
          <a:bodyPr rtlCol="0"/>
          <a:lstStyle>
            <a:lvl1pPr algn="l"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6167DEC-7546-44F6-AD64-E71C2FF1C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0344" y="6356350"/>
            <a:ext cx="843455" cy="365125"/>
          </a:xfrm>
        </p:spPr>
        <p:txBody>
          <a:bodyPr rtlCol="0"/>
          <a:lstStyle>
            <a:lvl1pPr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11" name="內容版面配置區 15">
            <a:extLst>
              <a:ext uri="{FF2B5EF4-FFF2-40B4-BE49-F238E27FC236}">
                <a16:creationId xmlns:a16="http://schemas.microsoft.com/office/drawing/2014/main" id="{61241730-14B7-407E-9517-F4510520D03C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311900" y="3282850"/>
            <a:ext cx="5350010" cy="1030734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055B60F-1D5E-4B0C-8354-2E7AA187F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1898" y="2471206"/>
            <a:ext cx="5350010" cy="867398"/>
          </a:xfrm>
          <a:prstGeom prst="rect">
            <a:avLst/>
          </a:prstGeom>
        </p:spPr>
        <p:txBody>
          <a:bodyPr rtlCol="0" anchor="ctr"/>
          <a:lstStyle>
            <a:lvl1pPr>
              <a:lnSpc>
                <a:spcPct val="100000"/>
              </a:lnSpc>
              <a:defRPr lang="en-US" sz="2400" spc="10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2914552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感謝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圖片版面配置區 10">
            <a:extLst>
              <a:ext uri="{FF2B5EF4-FFF2-40B4-BE49-F238E27FC236}">
                <a16:creationId xmlns:a16="http://schemas.microsoft.com/office/drawing/2014/main" id="{9C6F1ED5-824E-4C14-8D5E-5A0A26C5421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0415A3-6E46-4BC3-B867-3A6A61D0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1ADF53-2713-40AC-9CC8-AA83770C9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BD08A84-ADB1-42C6-A7B1-E5C5A728B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9" name="內容版面配置區 15">
            <a:extLst>
              <a:ext uri="{FF2B5EF4-FFF2-40B4-BE49-F238E27FC236}">
                <a16:creationId xmlns:a16="http://schemas.microsoft.com/office/drawing/2014/main" id="{9F762423-7F4E-4A21-8F09-05418F82F9D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78765" y="3267882"/>
            <a:ext cx="3193926" cy="2203224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22AE728-7030-4847-B87B-FDB4B86E0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8765" y="2371063"/>
            <a:ext cx="3193926" cy="999451"/>
          </a:xfrm>
          <a:prstGeom prst="rect">
            <a:avLst/>
          </a:prstGeom>
        </p:spPr>
        <p:txBody>
          <a:bodyPr rtlCol="0" anchor="ctr"/>
          <a:lstStyle>
            <a:lvl1pPr>
              <a:lnSpc>
                <a:spcPct val="125000"/>
              </a:lnSpc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901016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spc="150" baseline="0">
                <a:solidFill>
                  <a:schemeClr val="bg2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84DCE26-8B90-4B2C-883A-D5FFC365BF8A}"/>
              </a:ext>
            </a:extLst>
          </p:cNvPr>
          <p:cNvSpPr txBox="1"/>
          <p:nvPr userDrawn="1"/>
        </p:nvSpPr>
        <p:spPr>
          <a:xfrm>
            <a:off x="5637320" y="297401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youtube.com/watch?v=PJFQlvldNkE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hyperlink" Target="https://www.youtube.com/watch?v=kfaQ9Tz0gp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字版面配置區 25">
            <a:extLst>
              <a:ext uri="{FF2B5EF4-FFF2-40B4-BE49-F238E27FC236}">
                <a16:creationId xmlns:a16="http://schemas.microsoft.com/office/drawing/2014/main" id="{C022D7CD-E026-4E29-BE4B-3FA7B1EB6A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63027" y="4745864"/>
            <a:ext cx="3914981" cy="1177290"/>
          </a:xfrm>
        </p:spPr>
        <p:txBody>
          <a:bodyPr rtlCol="0"/>
          <a:lstStyle/>
          <a:p>
            <a:pPr rtl="0">
              <a:lnSpc>
                <a:spcPct val="100000"/>
              </a:lnSpc>
            </a:pPr>
            <a:r>
              <a:rPr lang="zh-TW" altLang="en-US" dirty="0"/>
              <a:t>莊凱翔 助理教授</a:t>
            </a:r>
            <a:endParaRPr lang="en-US" altLang="zh-TW" dirty="0"/>
          </a:p>
          <a:p>
            <a:pPr rtl="0">
              <a:lnSpc>
                <a:spcPct val="100000"/>
              </a:lnSpc>
            </a:pPr>
            <a:r>
              <a:rPr lang="zh-TW" altLang="en-US" dirty="0"/>
              <a:t>元智大學機械工程學系</a:t>
            </a:r>
            <a:endParaRPr lang="en-US" altLang="zh-TW" dirty="0"/>
          </a:p>
          <a:p>
            <a:pPr rtl="0">
              <a:lnSpc>
                <a:spcPct val="100000"/>
              </a:lnSpc>
            </a:pPr>
            <a:r>
              <a:rPr lang="en-US" altLang="zh-TW" dirty="0"/>
              <a:t>115-1</a:t>
            </a:r>
            <a:r>
              <a:rPr lang="zh-TW" altLang="en-US" dirty="0"/>
              <a:t> 人工智慧概論課程</a:t>
            </a:r>
          </a:p>
        </p:txBody>
      </p:sp>
      <p:sp>
        <p:nvSpPr>
          <p:cNvPr id="36" name="文字版面配置區 35">
            <a:extLst>
              <a:ext uri="{FF2B5EF4-FFF2-40B4-BE49-F238E27FC236}">
                <a16:creationId xmlns:a16="http://schemas.microsoft.com/office/drawing/2014/main" id="{AEEB6582-6001-4276-8F87-1470B6FA14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347790" y="5237725"/>
            <a:ext cx="2459114" cy="685429"/>
          </a:xfrm>
        </p:spPr>
        <p:txBody>
          <a:bodyPr rtlCol="0"/>
          <a:lstStyle/>
          <a:p>
            <a:pPr rtl="0"/>
            <a:r>
              <a:rPr lang="en-US" altLang="zh-TW" dirty="0"/>
              <a:t>2026/09/14</a:t>
            </a:r>
          </a:p>
        </p:txBody>
      </p:sp>
      <p:sp>
        <p:nvSpPr>
          <p:cNvPr id="2" name="AutoShape 2" descr="決策樹：從資料到更好選擇">
            <a:extLst>
              <a:ext uri="{FF2B5EF4-FFF2-40B4-BE49-F238E27FC236}">
                <a16:creationId xmlns:a16="http://schemas.microsoft.com/office/drawing/2014/main" id="{20C9AE9D-492F-FF69-7210-445D247387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2E6CA31-DE93-9D1A-43E1-D0466ED02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6883" y="543670"/>
            <a:ext cx="12037349" cy="401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199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F7B7E5B3-F6B1-4A5C-A942-9728FEC57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8177" y="631627"/>
            <a:ext cx="10915645" cy="558819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/>
          </a:p>
        </p:txBody>
      </p:sp>
      <p:cxnSp>
        <p:nvCxnSpPr>
          <p:cNvPr id="22" name="直線接點​​(S) 21">
            <a:extLst>
              <a:ext uri="{FF2B5EF4-FFF2-40B4-BE49-F238E27FC236}">
                <a16:creationId xmlns:a16="http://schemas.microsoft.com/office/drawing/2014/main" id="{11C0FA35-FBFE-4B23-B0D5-ECBC4C905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389360" y="0"/>
            <a:ext cx="0" cy="171338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39B2324E-969D-4802-8BB3-E6EC3E221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242" y="1418953"/>
            <a:ext cx="5362575" cy="495691"/>
          </a:xfr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rtl="0"/>
            <a:r>
              <a:rPr lang="zh-TW" altLang="en-US" dirty="0"/>
              <a:t>資料分割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C7F794E-8D8D-4E1B-9A9D-F5A6A9E31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US" altLang="zh-TW" dirty="0"/>
              <a:t>2026/9/15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7DA5921-BFDC-41F2-85DA-24C802F2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zh-TW" altLang="en-US" dirty="0"/>
              <a:t>圖片出處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AI</a:t>
            </a:r>
            <a:r>
              <a:rPr lang="zh-TW" altLang="en-US" dirty="0"/>
              <a:t>完全圖解人工智慧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46665B6-F02E-4FF8-AEBC-BEFA35EAF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18D65601-5AE2-46FC-B138-694DDD2B510D}" type="slidenum">
              <a:rPr lang="en-US" altLang="zh-TW" smtClean="0"/>
              <a:pPr rtl="0"/>
              <a:t>2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B631019-5266-4FB6-0A5A-566236014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242" y="856693"/>
            <a:ext cx="8631810" cy="485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007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F7B7E5B3-F6B1-4A5C-A942-9728FEC57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8177" y="631627"/>
            <a:ext cx="10915645" cy="558819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/>
          </a:p>
        </p:txBody>
      </p:sp>
      <p:cxnSp>
        <p:nvCxnSpPr>
          <p:cNvPr id="22" name="直線接點​​(S) 21">
            <a:extLst>
              <a:ext uri="{FF2B5EF4-FFF2-40B4-BE49-F238E27FC236}">
                <a16:creationId xmlns:a16="http://schemas.microsoft.com/office/drawing/2014/main" id="{11C0FA35-FBFE-4B23-B0D5-ECBC4C905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389360" y="0"/>
            <a:ext cx="0" cy="171338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39B2324E-969D-4802-8BB3-E6EC3E221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242" y="1418953"/>
            <a:ext cx="5362575" cy="495691"/>
          </a:xfr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rtl="0"/>
            <a:endParaRPr lang="zh-TW" altLang="en-US" dirty="0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C7F794E-8D8D-4E1B-9A9D-F5A6A9E31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US" altLang="zh-TW" dirty="0"/>
              <a:t>2026/9/15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7DA5921-BFDC-41F2-85DA-24C802F2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zh-TW" altLang="en-US" dirty="0"/>
              <a:t>圖片出處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AI</a:t>
            </a:r>
            <a:r>
              <a:rPr lang="zh-TW" altLang="en-US" dirty="0"/>
              <a:t>完全圖解人工智慧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46665B6-F02E-4FF8-AEBC-BEFA35EAF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18D65601-5AE2-46FC-B138-694DDD2B510D}" type="slidenum">
              <a:rPr lang="en-US" altLang="zh-TW" smtClean="0"/>
              <a:pPr rtl="0"/>
              <a:t>3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9DBD5D6-A896-B8A4-A9CD-58A5C5638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965" y="979303"/>
            <a:ext cx="9077265" cy="5108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691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F7B7E5B3-F6B1-4A5C-A942-9728FEC57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8177" y="631627"/>
            <a:ext cx="10915645" cy="558819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/>
          </a:p>
        </p:txBody>
      </p:sp>
      <p:cxnSp>
        <p:nvCxnSpPr>
          <p:cNvPr id="22" name="直線接點​​(S) 21">
            <a:extLst>
              <a:ext uri="{FF2B5EF4-FFF2-40B4-BE49-F238E27FC236}">
                <a16:creationId xmlns:a16="http://schemas.microsoft.com/office/drawing/2014/main" id="{11C0FA35-FBFE-4B23-B0D5-ECBC4C905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389360" y="0"/>
            <a:ext cx="0" cy="171338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39B2324E-969D-4802-8BB3-E6EC3E221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242" y="1418953"/>
            <a:ext cx="5362575" cy="495691"/>
          </a:xfr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rtl="0"/>
            <a:endParaRPr lang="zh-TW" altLang="en-US" dirty="0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C7F794E-8D8D-4E1B-9A9D-F5A6A9E31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US" altLang="zh-TW" dirty="0"/>
              <a:t>2026/9/15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7DA5921-BFDC-41F2-85DA-24C802F2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zh-TW" altLang="en-US" dirty="0"/>
              <a:t>圖片出處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AI</a:t>
            </a:r>
            <a:r>
              <a:rPr lang="zh-TW" altLang="en-US" dirty="0"/>
              <a:t>完全圖解人工智慧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46665B6-F02E-4FF8-AEBC-BEFA35EAF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18D65601-5AE2-46FC-B138-694DDD2B510D}" type="slidenum">
              <a:rPr lang="en-US" altLang="zh-TW" smtClean="0"/>
              <a:pPr rtl="0"/>
              <a:t>4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604F71D-DA09-9097-CD8C-A0356EBC5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801" y="1014116"/>
            <a:ext cx="9043911" cy="508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207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F7B7E5B3-F6B1-4A5C-A942-9728FEC57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8177" y="631627"/>
            <a:ext cx="10915645" cy="558819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/>
          </a:p>
        </p:txBody>
      </p:sp>
      <p:cxnSp>
        <p:nvCxnSpPr>
          <p:cNvPr id="22" name="直線接點​​(S) 21">
            <a:extLst>
              <a:ext uri="{FF2B5EF4-FFF2-40B4-BE49-F238E27FC236}">
                <a16:creationId xmlns:a16="http://schemas.microsoft.com/office/drawing/2014/main" id="{11C0FA35-FBFE-4B23-B0D5-ECBC4C905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389360" y="0"/>
            <a:ext cx="0" cy="171338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39B2324E-969D-4802-8BB3-E6EC3E221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242" y="1418953"/>
            <a:ext cx="5362575" cy="495691"/>
          </a:xfr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rtl="0"/>
            <a:endParaRPr lang="zh-TW" altLang="en-US" dirty="0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C7F794E-8D8D-4E1B-9A9D-F5A6A9E31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US" altLang="zh-TW" dirty="0"/>
              <a:t>2026/9/15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7DA5921-BFDC-41F2-85DA-24C802F2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zh-TW" altLang="en-US" dirty="0"/>
              <a:t>圖片出處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AI</a:t>
            </a:r>
            <a:r>
              <a:rPr lang="zh-TW" altLang="en-US" dirty="0"/>
              <a:t>完全圖解人工智慧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46665B6-F02E-4FF8-AEBC-BEFA35EAF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18D65601-5AE2-46FC-B138-694DDD2B510D}" type="slidenum">
              <a:rPr lang="en-US" altLang="zh-TW" smtClean="0"/>
              <a:pPr rtl="0"/>
              <a:t>5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631B1-EAC4-342E-D526-5EA8CDACD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699" y="840652"/>
            <a:ext cx="9095592" cy="511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013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F7B7E5B3-F6B1-4A5C-A942-9728FEC57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8177" y="631627"/>
            <a:ext cx="10915645" cy="558819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/>
          </a:p>
        </p:txBody>
      </p:sp>
      <p:cxnSp>
        <p:nvCxnSpPr>
          <p:cNvPr id="22" name="直線接點​​(S) 21">
            <a:extLst>
              <a:ext uri="{FF2B5EF4-FFF2-40B4-BE49-F238E27FC236}">
                <a16:creationId xmlns:a16="http://schemas.microsoft.com/office/drawing/2014/main" id="{11C0FA35-FBFE-4B23-B0D5-ECBC4C905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389360" y="0"/>
            <a:ext cx="0" cy="171338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39B2324E-969D-4802-8BB3-E6EC3E221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242" y="1418953"/>
            <a:ext cx="5362575" cy="495691"/>
          </a:xfr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rtl="0"/>
            <a:endParaRPr lang="zh-TW" altLang="en-US" dirty="0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C7F794E-8D8D-4E1B-9A9D-F5A6A9E31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US" altLang="zh-TW" dirty="0"/>
              <a:t>2026/9/15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46665B6-F02E-4FF8-AEBC-BEFA35EAF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18D65601-5AE2-46FC-B138-694DDD2B510D}" type="slidenum">
              <a:rPr lang="en-US" altLang="zh-TW" smtClean="0"/>
              <a:pPr rtl="0"/>
              <a:t>6</a:t>
            </a:fld>
            <a:endParaRPr lang="zh-TW" altLang="en-US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67EF59C4-3158-D622-573B-491D1671E209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>
            <a:off x="1568824" y="941653"/>
            <a:ext cx="8839200" cy="4974694"/>
          </a:xfrm>
        </p:spPr>
      </p:pic>
    </p:spTree>
    <p:extLst>
      <p:ext uri="{BB962C8B-B14F-4D97-AF65-F5344CB8AC3E}">
        <p14:creationId xmlns:p14="http://schemas.microsoft.com/office/powerpoint/2010/main" val="3352127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F7B7E5B3-F6B1-4A5C-A942-9728FEC57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8177" y="631627"/>
            <a:ext cx="10915645" cy="558819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/>
          </a:p>
        </p:txBody>
      </p:sp>
      <p:cxnSp>
        <p:nvCxnSpPr>
          <p:cNvPr id="22" name="直線接點​​(S) 21">
            <a:extLst>
              <a:ext uri="{FF2B5EF4-FFF2-40B4-BE49-F238E27FC236}">
                <a16:creationId xmlns:a16="http://schemas.microsoft.com/office/drawing/2014/main" id="{11C0FA35-FBFE-4B23-B0D5-ECBC4C905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389360" y="0"/>
            <a:ext cx="0" cy="171338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39B2324E-969D-4802-8BB3-E6EC3E221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242" y="1418953"/>
            <a:ext cx="5362575" cy="495691"/>
          </a:xfr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rtl="0"/>
            <a:endParaRPr lang="zh-TW" altLang="en-US" dirty="0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C7F794E-8D8D-4E1B-9A9D-F5A6A9E31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US" altLang="zh-TW" dirty="0"/>
              <a:t>2026/9/15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46665B6-F02E-4FF8-AEBC-BEFA35EAF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18D65601-5AE2-46FC-B138-694DDD2B510D}" type="slidenum">
              <a:rPr lang="en-US" altLang="zh-TW" smtClean="0"/>
              <a:pPr rtl="0"/>
              <a:t>7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6D5B5E6-D41B-1C0D-66B9-136E7617E78E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1" name="內容版面配置區 20">
            <a:extLst>
              <a:ext uri="{FF2B5EF4-FFF2-40B4-BE49-F238E27FC236}">
                <a16:creationId xmlns:a16="http://schemas.microsoft.com/office/drawing/2014/main" id="{3C21F2F2-1019-09E9-30DC-7694DBAF9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508" y="856693"/>
            <a:ext cx="8958250" cy="5041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482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F7B7E5B3-F6B1-4A5C-A942-9728FEC57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8177" y="631627"/>
            <a:ext cx="10915645" cy="558819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/>
          </a:p>
        </p:txBody>
      </p:sp>
      <p:cxnSp>
        <p:nvCxnSpPr>
          <p:cNvPr id="22" name="直線接點​​(S) 21">
            <a:extLst>
              <a:ext uri="{FF2B5EF4-FFF2-40B4-BE49-F238E27FC236}">
                <a16:creationId xmlns:a16="http://schemas.microsoft.com/office/drawing/2014/main" id="{11C0FA35-FBFE-4B23-B0D5-ECBC4C905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389360" y="0"/>
            <a:ext cx="0" cy="171338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C7F794E-8D8D-4E1B-9A9D-F5A6A9E31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US" altLang="zh-TW" dirty="0"/>
              <a:t>2026/9/15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46665B6-F02E-4FF8-AEBC-BEFA35EAF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18D65601-5AE2-46FC-B138-694DDD2B510D}" type="slidenum">
              <a:rPr lang="en-US" altLang="zh-TW" smtClean="0"/>
              <a:pPr rtl="0"/>
              <a:t>8</a:t>
            </a:fld>
            <a:endParaRPr lang="zh-TW" altLang="en-US"/>
          </a:p>
        </p:txBody>
      </p:sp>
      <p:sp>
        <p:nvSpPr>
          <p:cNvPr id="2" name="頁尾版面配置區 3">
            <a:extLst>
              <a:ext uri="{FF2B5EF4-FFF2-40B4-BE49-F238E27FC236}">
                <a16:creationId xmlns:a16="http://schemas.microsoft.com/office/drawing/2014/main" id="{C8581337-B2AD-9EBC-95D6-70B327CA6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zh-TW" altLang="en-US" dirty="0"/>
              <a:t>圖片出處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AI</a:t>
            </a:r>
            <a:r>
              <a:rPr lang="zh-TW" altLang="en-US" dirty="0"/>
              <a:t>完全圖解人工智慧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A5E0593-9E6E-CAF2-30C8-B77C32E91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339" y="864342"/>
            <a:ext cx="9102301" cy="512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516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F7B7E5B3-F6B1-4A5C-A942-9728FEC57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8177" y="631627"/>
            <a:ext cx="10915645" cy="558819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/>
          </a:p>
        </p:txBody>
      </p:sp>
      <p:cxnSp>
        <p:nvCxnSpPr>
          <p:cNvPr id="22" name="直線接點​​(S) 21">
            <a:extLst>
              <a:ext uri="{FF2B5EF4-FFF2-40B4-BE49-F238E27FC236}">
                <a16:creationId xmlns:a16="http://schemas.microsoft.com/office/drawing/2014/main" id="{11C0FA35-FBFE-4B23-B0D5-ECBC4C905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389360" y="0"/>
            <a:ext cx="0" cy="171338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C7F794E-8D8D-4E1B-9A9D-F5A6A9E31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US" altLang="zh-TW" dirty="0"/>
              <a:t>2026/9/15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46665B6-F02E-4FF8-AEBC-BEFA35EAF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18D65601-5AE2-46FC-B138-694DDD2B510D}" type="slidenum">
              <a:rPr lang="en-US" altLang="zh-TW" smtClean="0"/>
              <a:pPr rtl="0"/>
              <a:t>9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82D4CE5-76C3-82F3-DB2F-8933AA9B87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2073"/>
          <a:stretch/>
        </p:blipFill>
        <p:spPr>
          <a:xfrm>
            <a:off x="1716162" y="860198"/>
            <a:ext cx="9128663" cy="143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191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F7B7E5B3-F6B1-4A5C-A942-9728FEC57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8177" y="631627"/>
            <a:ext cx="10915645" cy="558819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/>
          </a:p>
        </p:txBody>
      </p:sp>
      <p:cxnSp>
        <p:nvCxnSpPr>
          <p:cNvPr id="22" name="直線接點​​(S) 21">
            <a:extLst>
              <a:ext uri="{FF2B5EF4-FFF2-40B4-BE49-F238E27FC236}">
                <a16:creationId xmlns:a16="http://schemas.microsoft.com/office/drawing/2014/main" id="{11C0FA35-FBFE-4B23-B0D5-ECBC4C905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389360" y="0"/>
            <a:ext cx="0" cy="171338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C7F794E-8D8D-4E1B-9A9D-F5A6A9E31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US" altLang="zh-TW" dirty="0"/>
              <a:t>2026/9/15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46665B6-F02E-4FF8-AEBC-BEFA35EAF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18D65601-5AE2-46FC-B138-694DDD2B510D}" type="slidenum">
              <a:rPr lang="en-US" altLang="zh-TW" smtClean="0"/>
              <a:pPr rtl="0"/>
              <a:t>10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82D4CE5-76C3-82F3-DB2F-8933AA9B8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162" y="860198"/>
            <a:ext cx="9128663" cy="5137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453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0F2C55A-20A8-DDC5-7519-B8079C719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5DF245C-8EAE-136D-FCAA-8533E943F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altLang="zh-TW" noProof="0" smtClean="0"/>
              <a:pPr/>
              <a:t>11</a:t>
            </a:fld>
            <a:endParaRPr lang="zh-TW" altLang="en-US" noProof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3F91D9A7-6B4F-B0E4-7938-CD96DAE64C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32616" y="1736605"/>
            <a:ext cx="3786693" cy="326687"/>
          </a:xfrm>
        </p:spPr>
        <p:txBody>
          <a:bodyPr/>
          <a:lstStyle/>
          <a:p>
            <a:r>
              <a:rPr lang="zh-TW" altLang="en-US" dirty="0"/>
              <a:t>課後學習</a:t>
            </a:r>
          </a:p>
        </p:txBody>
      </p:sp>
      <p:pic>
        <p:nvPicPr>
          <p:cNvPr id="12" name="圖片 11">
            <a:hlinkClick r:id="rId2"/>
            <a:extLst>
              <a:ext uri="{FF2B5EF4-FFF2-40B4-BE49-F238E27FC236}">
                <a16:creationId xmlns:a16="http://schemas.microsoft.com/office/drawing/2014/main" id="{9FC91E45-6163-0989-31E6-D35BC8E3D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057" y="3013653"/>
            <a:ext cx="4788900" cy="2475008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62EAF37A-EEA9-1503-4E91-F001F964D83E}"/>
              </a:ext>
            </a:extLst>
          </p:cNvPr>
          <p:cNvSpPr txBox="1"/>
          <p:nvPr/>
        </p:nvSpPr>
        <p:spPr>
          <a:xfrm>
            <a:off x="459935" y="5540989"/>
            <a:ext cx="61049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>
                <a:hlinkClick r:id="rId2"/>
              </a:rPr>
              <a:t>https://www.youtube.com/watch?v=PJFQlvldNkE</a:t>
            </a:r>
            <a:endParaRPr lang="en-US" altLang="zh-TW"/>
          </a:p>
          <a:p>
            <a:pPr algn="ctr"/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27BCBF3-F4D1-FA23-66E9-734FBB121B1C}"/>
              </a:ext>
            </a:extLst>
          </p:cNvPr>
          <p:cNvSpPr txBox="1"/>
          <p:nvPr/>
        </p:nvSpPr>
        <p:spPr>
          <a:xfrm>
            <a:off x="1454524" y="2280268"/>
            <a:ext cx="41999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i="0" dirty="0">
                <a:effectLst/>
                <a:latin typeface="Roboto" panose="02000000000000000000" pitchFamily="2" charset="0"/>
              </a:rPr>
              <a:t>AI </a:t>
            </a:r>
            <a:r>
              <a:rPr lang="zh-TW" altLang="en-US" b="1" i="0" dirty="0">
                <a:effectLst/>
                <a:latin typeface="Roboto" panose="02000000000000000000" pitchFamily="2" charset="0"/>
              </a:rPr>
              <a:t>圈頭號唱衰者拆 </a:t>
            </a:r>
            <a:r>
              <a:rPr lang="en-US" altLang="zh-TW" b="1" i="0" dirty="0">
                <a:effectLst/>
                <a:latin typeface="Roboto" panose="02000000000000000000" pitchFamily="2" charset="0"/>
              </a:rPr>
              <a:t>GPT-6 Astra </a:t>
            </a:r>
            <a:r>
              <a:rPr lang="zh-TW" altLang="en-US" b="1" i="0" dirty="0">
                <a:effectLst/>
                <a:latin typeface="Roboto" panose="02000000000000000000" pitchFamily="2" charset="0"/>
              </a:rPr>
              <a:t>的 </a:t>
            </a:r>
            <a:r>
              <a:rPr lang="en-US" altLang="zh-TW" b="1" i="0" dirty="0">
                <a:effectLst/>
                <a:latin typeface="Roboto" panose="02000000000000000000" pitchFamily="2" charset="0"/>
              </a:rPr>
              <a:t>AGI </a:t>
            </a:r>
            <a:r>
              <a:rPr lang="zh-TW" altLang="en-US" b="1" i="0" dirty="0">
                <a:effectLst/>
                <a:latin typeface="Roboto" panose="02000000000000000000" pitchFamily="2" charset="0"/>
              </a:rPr>
              <a:t>宣告</a:t>
            </a:r>
            <a:r>
              <a:rPr lang="en-US" altLang="zh-TW" b="1" i="0" dirty="0">
                <a:effectLst/>
                <a:latin typeface="Roboto" panose="02000000000000000000" pitchFamily="2" charset="0"/>
              </a:rPr>
              <a:t>【AI </a:t>
            </a:r>
            <a:r>
              <a:rPr lang="zh-TW" altLang="en-US" b="1" i="0" dirty="0">
                <a:effectLst/>
                <a:latin typeface="Roboto" panose="02000000000000000000" pitchFamily="2" charset="0"/>
              </a:rPr>
              <a:t>大人說</a:t>
            </a:r>
            <a:r>
              <a:rPr lang="en-US" altLang="zh-TW" b="1" i="0" dirty="0">
                <a:effectLst/>
                <a:latin typeface="Roboto" panose="02000000000000000000" pitchFamily="2" charset="0"/>
              </a:rPr>
              <a:t>】</a:t>
            </a:r>
          </a:p>
        </p:txBody>
      </p:sp>
      <p:pic>
        <p:nvPicPr>
          <p:cNvPr id="18" name="圖片 17">
            <a:hlinkClick r:id="rId4"/>
            <a:extLst>
              <a:ext uri="{FF2B5EF4-FFF2-40B4-BE49-F238E27FC236}">
                <a16:creationId xmlns:a16="http://schemas.microsoft.com/office/drawing/2014/main" id="{23272CC6-AC15-9EA2-10C7-0782CDF330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4899" y="2980374"/>
            <a:ext cx="4973697" cy="2508287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AB1658D4-1E0A-D208-D39B-1AA2F99A5ECF}"/>
              </a:ext>
            </a:extLst>
          </p:cNvPr>
          <p:cNvSpPr txBox="1"/>
          <p:nvPr/>
        </p:nvSpPr>
        <p:spPr>
          <a:xfrm>
            <a:off x="5999265" y="5540990"/>
            <a:ext cx="61049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dirty="0">
                <a:hlinkClick r:id="rId4"/>
              </a:rPr>
              <a:t>https://www.youtube.com/watch?v=kfaQ9Tz0gpU</a:t>
            </a:r>
            <a:endParaRPr lang="en-US" altLang="zh-TW" dirty="0"/>
          </a:p>
          <a:p>
            <a:pPr algn="ctr"/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9BB283EE-E32B-9D99-412F-F8694106E452}"/>
              </a:ext>
            </a:extLst>
          </p:cNvPr>
          <p:cNvSpPr txBox="1"/>
          <p:nvPr/>
        </p:nvSpPr>
        <p:spPr>
          <a:xfrm>
            <a:off x="5999265" y="2307878"/>
            <a:ext cx="61049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b="1" i="0" dirty="0">
                <a:effectLst/>
                <a:latin typeface="Roboto" panose="02000000000000000000" pitchFamily="2" charset="0"/>
              </a:rPr>
              <a:t>陶哲軒：</a:t>
            </a:r>
            <a:r>
              <a:rPr lang="en-US" altLang="zh-TW" b="1" i="0" dirty="0">
                <a:effectLst/>
                <a:latin typeface="Roboto" panose="02000000000000000000" pitchFamily="2" charset="0"/>
              </a:rPr>
              <a:t>AI </a:t>
            </a:r>
            <a:r>
              <a:rPr lang="zh-TW" altLang="en-US" b="1" i="0" dirty="0">
                <a:effectLst/>
                <a:latin typeface="Roboto" panose="02000000000000000000" pitchFamily="2" charset="0"/>
              </a:rPr>
              <a:t>解題像個微醺的天才，而科學界可能在優化錯的東西</a:t>
            </a:r>
            <a:r>
              <a:rPr lang="en-US" altLang="zh-TW" b="1" i="0" dirty="0">
                <a:effectLst/>
                <a:latin typeface="Roboto" panose="02000000000000000000" pitchFamily="2" charset="0"/>
              </a:rPr>
              <a:t>【AI </a:t>
            </a:r>
            <a:r>
              <a:rPr lang="zh-TW" altLang="en-US" b="1" i="0" dirty="0">
                <a:effectLst/>
                <a:latin typeface="Roboto" panose="02000000000000000000" pitchFamily="2" charset="0"/>
              </a:rPr>
              <a:t>大人說</a:t>
            </a:r>
            <a:r>
              <a:rPr lang="en-US" altLang="zh-TW" b="1" i="0" dirty="0">
                <a:effectLst/>
                <a:latin typeface="Roboto" panose="02000000000000000000" pitchFamily="2" charset="0"/>
              </a:rPr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3222806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59945386_TF78544816_Win32" id="{9E63F1E3-28E5-483A-B659-61289534B460}" vid="{AD1DE065-60B4-4853-9CC3-BCBE3EC4F98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9B3369-3F0F-499C-9EE7-8EC46B6E8A7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AC34B31-7353-4357-814E-0E5916A110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1DE3569-F02A-48B1-8F6E-F11E8BF8707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新式會議簡報</Template>
  <TotalTime>206</TotalTime>
  <Words>747</Words>
  <Application>Microsoft Office PowerPoint</Application>
  <PresentationFormat>寬螢幕</PresentationFormat>
  <Paragraphs>82</Paragraphs>
  <Slides>11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6" baseType="lpstr">
      <vt:lpstr>Microsoft JhengHei UI</vt:lpstr>
      <vt:lpstr>Microsoft JhengHei UI Light</vt:lpstr>
      <vt:lpstr>Arial</vt:lpstr>
      <vt:lpstr>Roboto</vt:lpstr>
      <vt:lpstr>Office 佈景主題</vt:lpstr>
      <vt:lpstr>PowerPoint 簡報</vt:lpstr>
      <vt:lpstr>資料分割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KAI-HSIANG CHUANG</dc:creator>
  <cp:lastModifiedBy>KAI-HSIANG CHUANG</cp:lastModifiedBy>
  <cp:revision>5</cp:revision>
  <dcterms:created xsi:type="dcterms:W3CDTF">2026-08-19T04:14:59Z</dcterms:created>
  <dcterms:modified xsi:type="dcterms:W3CDTF">2026-09-15T03:58:27Z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