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2" r:id="rId6"/>
    <p:sldId id="284" r:id="rId7"/>
    <p:sldId id="285" r:id="rId8"/>
    <p:sldId id="283" r:id="rId9"/>
    <p:sldId id="291" r:id="rId10"/>
    <p:sldId id="290" r:id="rId11"/>
    <p:sldId id="289" r:id="rId12"/>
    <p:sldId id="286" r:id="rId13"/>
    <p:sldId id="292" r:id="rId1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8167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0364D4E-7422-40C5-B104-A8045DE1D33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AC623C-86E0-4A85-83FB-F4A716956FD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08CA673-C202-4825-8824-38BE53AF95B4}" type="datetime1">
              <a:rPr lang="zh-TW" altLang="en-US" noProof="0" smtClean="0"/>
              <a:t>2026/9/29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37D7554-D10C-4E29-B8E6-BB7111FA614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08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探討</a:t>
            </a:r>
            <a:r>
              <a:rPr lang="en-US" altLang="zh-TW" dirty="0" err="1"/>
              <a:t>Max_depth</a:t>
            </a:r>
            <a:r>
              <a:rPr lang="zh-TW" altLang="en-US" dirty="0"/>
              <a:t>的影響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max_depth</a:t>
            </a:r>
            <a:r>
              <a:rPr lang="en-US" altLang="zh-TW" dirty="0"/>
              <a:t> </a:t>
            </a:r>
            <a:r>
              <a:rPr lang="zh-TW" altLang="en-US" dirty="0"/>
              <a:t>太小 → 模型太簡單 → </a:t>
            </a:r>
            <a:r>
              <a:rPr lang="en-US" altLang="zh-TW" dirty="0"/>
              <a:t>Train </a:t>
            </a:r>
            <a:r>
              <a:rPr lang="zh-TW" altLang="en-US" dirty="0"/>
              <a:t>低 → </a:t>
            </a:r>
            <a:r>
              <a:rPr lang="en-US" altLang="zh-TW" dirty="0"/>
              <a:t>Test </a:t>
            </a:r>
            <a:r>
              <a:rPr lang="zh-TW" altLang="en-US" dirty="0"/>
              <a:t>也低 → </a:t>
            </a:r>
            <a:r>
              <a:rPr lang="en-US" altLang="zh-TW" dirty="0"/>
              <a:t>Underfitting</a:t>
            </a:r>
          </a:p>
          <a:p>
            <a:r>
              <a:rPr lang="en-US" altLang="zh-TW" dirty="0" err="1"/>
              <a:t>max_depth</a:t>
            </a:r>
            <a:r>
              <a:rPr lang="en-US" altLang="zh-TW" dirty="0"/>
              <a:t> </a:t>
            </a:r>
            <a:r>
              <a:rPr lang="zh-TW" altLang="en-US" dirty="0"/>
              <a:t>適中 → </a:t>
            </a:r>
            <a:r>
              <a:rPr lang="en-US" altLang="zh-TW" dirty="0"/>
              <a:t>Train </a:t>
            </a:r>
            <a:r>
              <a:rPr lang="zh-TW" altLang="en-US" dirty="0"/>
              <a:t>高 → </a:t>
            </a:r>
            <a:r>
              <a:rPr lang="en-US" altLang="zh-TW" dirty="0"/>
              <a:t>Test </a:t>
            </a:r>
            <a:r>
              <a:rPr lang="zh-TW" altLang="en-US" dirty="0"/>
              <a:t>也高  → </a:t>
            </a:r>
            <a:r>
              <a:rPr lang="en-US" altLang="zh-TW" dirty="0"/>
              <a:t>Good Generalization</a:t>
            </a:r>
          </a:p>
          <a:p>
            <a:r>
              <a:rPr lang="en-US" altLang="zh-TW" dirty="0" err="1"/>
              <a:t>max_depth</a:t>
            </a:r>
            <a:r>
              <a:rPr lang="en-US" altLang="zh-TW" dirty="0"/>
              <a:t> </a:t>
            </a:r>
            <a:r>
              <a:rPr lang="zh-TW" altLang="en-US" dirty="0"/>
              <a:t>很大 </a:t>
            </a:r>
            <a:r>
              <a:rPr lang="en-US" altLang="zh-TW" dirty="0"/>
              <a:t>/ None</a:t>
            </a:r>
            <a:r>
              <a:rPr lang="zh-TW" altLang="en-US" dirty="0"/>
              <a:t> </a:t>
            </a:r>
            <a:r>
              <a:rPr lang="en-US" altLang="zh-TW" dirty="0"/>
              <a:t>→ Train </a:t>
            </a:r>
            <a:r>
              <a:rPr lang="zh-TW" altLang="en-US" dirty="0"/>
              <a:t>接近 </a:t>
            </a:r>
            <a:r>
              <a:rPr lang="en-US" altLang="zh-TW" dirty="0"/>
              <a:t>100%</a:t>
            </a:r>
            <a:r>
              <a:rPr lang="zh-TW" altLang="en-US" dirty="0"/>
              <a:t> </a:t>
            </a:r>
            <a:r>
              <a:rPr lang="en-US" altLang="zh-TW" dirty="0"/>
              <a:t>→ Test </a:t>
            </a:r>
            <a:r>
              <a:rPr lang="zh-TW" altLang="en-US" dirty="0"/>
              <a:t>不一定繼續提高 → 可能出現 </a:t>
            </a:r>
            <a:r>
              <a:rPr lang="en-US" altLang="zh-TW" dirty="0"/>
              <a:t>Overfitting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altLang="zh-TW" noProof="0" smtClean="0"/>
              <a:pPr/>
              <a:t>5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841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Low Noise</a:t>
            </a:r>
          </a:p>
          <a:p>
            <a:r>
              <a:rPr lang="en-US" altLang="zh-TW" dirty="0"/>
              <a:t>Decision Tree ≈ Random Forest</a:t>
            </a:r>
          </a:p>
          <a:p>
            <a:endParaRPr lang="en-US" altLang="zh-TW" dirty="0"/>
          </a:p>
          <a:p>
            <a:r>
              <a:rPr lang="en-US" altLang="zh-TW" dirty="0"/>
              <a:t>Medium Noise</a:t>
            </a:r>
          </a:p>
          <a:p>
            <a:r>
              <a:rPr lang="en-US" altLang="zh-TW" dirty="0"/>
              <a:t>Random Forest &gt; Decision Tree</a:t>
            </a:r>
          </a:p>
          <a:p>
            <a:endParaRPr lang="en-US" altLang="zh-TW" dirty="0"/>
          </a:p>
          <a:p>
            <a:r>
              <a:rPr lang="en-US" altLang="zh-TW" dirty="0"/>
              <a:t>High Noise</a:t>
            </a:r>
          </a:p>
          <a:p>
            <a:r>
              <a:rPr lang="en-US" altLang="zh-TW" dirty="0"/>
              <a:t>Decision Tree ≈ Random Forest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兩者都變差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altLang="zh-TW" noProof="0" smtClean="0"/>
              <a:pPr/>
              <a:t>6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9924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Low Noise</a:t>
            </a:r>
          </a:p>
          <a:p>
            <a:r>
              <a:rPr lang="en-US" altLang="zh-TW" dirty="0"/>
              <a:t>Decision Tree ≈ Random Forest</a:t>
            </a:r>
          </a:p>
          <a:p>
            <a:endParaRPr lang="en-US" altLang="zh-TW" dirty="0"/>
          </a:p>
          <a:p>
            <a:r>
              <a:rPr lang="en-US" altLang="zh-TW" dirty="0"/>
              <a:t>Medium Noise</a:t>
            </a:r>
          </a:p>
          <a:p>
            <a:r>
              <a:rPr lang="en-US" altLang="zh-TW" dirty="0"/>
              <a:t>Random Forest &gt; Decision Tree</a:t>
            </a:r>
          </a:p>
          <a:p>
            <a:endParaRPr lang="en-US" altLang="zh-TW" dirty="0"/>
          </a:p>
          <a:p>
            <a:r>
              <a:rPr lang="en-US" altLang="zh-TW" dirty="0"/>
              <a:t>High Noise</a:t>
            </a:r>
          </a:p>
          <a:p>
            <a:r>
              <a:rPr lang="en-US" altLang="zh-TW" dirty="0"/>
              <a:t>Decision Tree ≈ Random Forest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兩者都變差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9258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b="1" dirty="0"/>
              <a:t>教學目標是「刻意做出一個 </a:t>
            </a:r>
            <a:r>
              <a:rPr lang="en-US" altLang="zh-TW" b="1" dirty="0"/>
              <a:t>Random Forest </a:t>
            </a:r>
            <a:r>
              <a:rPr lang="zh-TW" altLang="en-US" b="1" dirty="0"/>
              <a:t>通常會比單一 </a:t>
            </a:r>
            <a:r>
              <a:rPr lang="en-US" altLang="zh-TW" b="1" dirty="0"/>
              <a:t>Decision Tree </a:t>
            </a:r>
            <a:r>
              <a:rPr lang="zh-TW" altLang="en-US" b="1" dirty="0"/>
              <a:t>更好的範例」</a:t>
            </a:r>
            <a:endParaRPr lang="en-US" altLang="zh-TW" b="1" dirty="0"/>
          </a:p>
          <a:p>
            <a:pPr marL="228600" indent="-228600">
              <a:buAutoNum type="arabicPeriod"/>
            </a:pPr>
            <a:r>
              <a:rPr lang="zh-TW" altLang="en-US" b="0" dirty="0"/>
              <a:t>標籤由多個特徵共同決定，而不是單一門檻就決定。</a:t>
            </a:r>
            <a:endParaRPr lang="en-US" altLang="zh-TW" b="0" dirty="0"/>
          </a:p>
          <a:p>
            <a:pPr marL="228600" indent="-228600">
              <a:buAutoNum type="arabicPeriod"/>
            </a:pPr>
            <a:r>
              <a:rPr lang="zh-TW" altLang="en-US" b="0" dirty="0"/>
              <a:t>保留適量感測器雜訊，但不要大到讓資料完全失去資訊。</a:t>
            </a:r>
            <a:endParaRPr lang="en-US" altLang="zh-TW" b="0" dirty="0"/>
          </a:p>
          <a:p>
            <a:pPr marL="228600" indent="-228600">
              <a:buAutoNum type="arabicPeriod"/>
            </a:pPr>
            <a:r>
              <a:rPr lang="zh-TW" altLang="en-US" b="0" dirty="0"/>
              <a:t>增加一些不重要或弱相關特徵，讓單棵 </a:t>
            </a:r>
            <a:r>
              <a:rPr lang="en-US" altLang="zh-TW" b="0" dirty="0"/>
              <a:t>Decision Tree </a:t>
            </a:r>
            <a:r>
              <a:rPr lang="zh-TW" altLang="en-US" b="0" dirty="0"/>
              <a:t>更容易受到資料抽樣與局部規則影響。</a:t>
            </a:r>
            <a:endParaRPr lang="en-US" altLang="zh-TW" b="0" dirty="0"/>
          </a:p>
          <a:p>
            <a:pPr marL="228600" indent="-228600">
              <a:buAutoNum type="arabicPeriod"/>
            </a:pPr>
            <a:r>
              <a:rPr lang="zh-TW" altLang="en-US" b="0" dirty="0"/>
              <a:t>標籤規則帶有一些「非線性與交互作用」。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altLang="zh-TW" noProof="0" smtClean="0"/>
              <a:pPr/>
              <a:t>9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176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Low Noise</a:t>
            </a:r>
          </a:p>
          <a:p>
            <a:r>
              <a:rPr lang="en-US" altLang="zh-TW" dirty="0"/>
              <a:t>Decision Tree ≈ Random Forest</a:t>
            </a:r>
          </a:p>
          <a:p>
            <a:endParaRPr lang="en-US" altLang="zh-TW" dirty="0"/>
          </a:p>
          <a:p>
            <a:r>
              <a:rPr lang="en-US" altLang="zh-TW" dirty="0"/>
              <a:t>Medium Noise</a:t>
            </a:r>
          </a:p>
          <a:p>
            <a:r>
              <a:rPr lang="en-US" altLang="zh-TW" dirty="0"/>
              <a:t>Random Forest &gt; Decision Tree</a:t>
            </a:r>
          </a:p>
          <a:p>
            <a:endParaRPr lang="en-US" altLang="zh-TW" dirty="0"/>
          </a:p>
          <a:p>
            <a:r>
              <a:rPr lang="en-US" altLang="zh-TW" dirty="0"/>
              <a:t>High Noise</a:t>
            </a:r>
          </a:p>
          <a:p>
            <a:r>
              <a:rPr lang="en-US" altLang="zh-TW" dirty="0"/>
              <a:t>Decision Tree ≈ Random Forest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兩者都變差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altLang="zh-TW" noProof="0" smtClean="0"/>
              <a:pPr/>
              <a:t>10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07290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認識簡報者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1712545"/>
            <a:ext cx="3266975" cy="3266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按一下以新增姓名</a:t>
            </a:r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3" name="直線接點​​(S)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34009" y="1867658"/>
            <a:ext cx="44579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組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片版面配置區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4" name="內容版面配置區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頁尾版面配置區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 rtlCol="0"/>
          <a:lstStyle>
            <a:lvl1pPr algn="r">
              <a:defRPr lang="en-US" sz="18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marL="0" lvl="0" indent="0" algn="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假設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訊工具的百分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9" name="內容版面配置區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內容版面配置區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內容版面配置區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內容版面配置區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#</a:t>
            </a:r>
          </a:p>
        </p:txBody>
      </p:sp>
      <p:sp>
        <p:nvSpPr>
          <p:cNvPr id="38" name="文字版面配置區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39" name="文字版面配置區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0" name="文字版面配置區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製作出色的產品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Contoso 與競爭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內容版面配置區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歷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1" name="文字版面配置區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新增年份</a:t>
            </a:r>
          </a:p>
        </p:txBody>
      </p:sp>
      <p:sp>
        <p:nvSpPr>
          <p:cNvPr id="52" name="文字版面配置區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53" name="文字版面配置區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4" name="文字版面配置區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5" name="文字版面配置區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02" name="直線接點​​(S)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103306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rtlCol="0"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心得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適用于企業的秘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rtlCol="0"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採取行動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C022D7CD-E026-4E29-BE4B-3FA7B1EB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3027" y="4745864"/>
            <a:ext cx="3914981" cy="117729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TW" altLang="en-US" dirty="0"/>
              <a:t>莊凱翔 助理教授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zh-TW" altLang="en-US" dirty="0"/>
              <a:t>元智大學機械工程學系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en-US" altLang="zh-TW" dirty="0"/>
              <a:t>115-1</a:t>
            </a:r>
            <a:r>
              <a:rPr lang="zh-TW" altLang="en-US" dirty="0"/>
              <a:t> 人工智慧概論課程</a:t>
            </a:r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AEEB6582-6001-4276-8F87-1470B6FA1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47790" y="5237725"/>
            <a:ext cx="2459114" cy="685429"/>
          </a:xfrm>
        </p:spPr>
        <p:txBody>
          <a:bodyPr rtlCol="0"/>
          <a:lstStyle/>
          <a:p>
            <a:pPr rtl="0"/>
            <a:r>
              <a:rPr lang="en-US" altLang="zh-TW" dirty="0"/>
              <a:t>2026/09/15</a:t>
            </a:r>
          </a:p>
        </p:txBody>
      </p:sp>
      <p:sp>
        <p:nvSpPr>
          <p:cNvPr id="2" name="AutoShape 2" descr="決策樹：從資料到更好選擇">
            <a:extLst>
              <a:ext uri="{FF2B5EF4-FFF2-40B4-BE49-F238E27FC236}">
                <a16:creationId xmlns:a16="http://schemas.microsoft.com/office/drawing/2014/main" id="{20C9AE9D-492F-FF69-7210-445D24738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D77DB7-60B0-7CF6-DB5F-DBABCEF5F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6" t="13487" r="2142" b="14167"/>
          <a:stretch/>
        </p:blipFill>
        <p:spPr>
          <a:xfrm>
            <a:off x="895554" y="1288026"/>
            <a:ext cx="11080790" cy="275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7E6829-5E03-BE46-89D0-FC59E05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7A6C03-A97A-8BA4-7C0B-A5A244E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2</a:t>
            </a:fld>
            <a:endParaRPr lang="zh-TW" altLang="en-US" noProof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934863DB-7719-7264-6314-791E2DEE8B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3446" y="1420099"/>
            <a:ext cx="4702248" cy="893570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zh-TW" altLang="en-US" sz="2800" dirty="0"/>
              <a:t>決策樹 </a:t>
            </a:r>
            <a:r>
              <a:rPr lang="en-US" altLang="zh-TW" sz="2800" dirty="0"/>
              <a:t>(Decision Tree)</a:t>
            </a:r>
          </a:p>
          <a:p>
            <a:pPr algn="r">
              <a:lnSpc>
                <a:spcPct val="100000"/>
              </a:lnSpc>
            </a:pPr>
            <a:r>
              <a:rPr lang="zh-TW" altLang="en-US" sz="2800" dirty="0"/>
              <a:t>隨機森林 </a:t>
            </a:r>
            <a:r>
              <a:rPr lang="en-US" altLang="zh-TW" sz="2800" dirty="0"/>
              <a:t>(Random Forest)</a:t>
            </a:r>
            <a:endParaRPr lang="zh-TW" altLang="en-US" sz="2800" dirty="0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8E94A622-BCEC-47E2-A325-B940FD53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784079" y="4139722"/>
            <a:ext cx="3121302" cy="469478"/>
          </a:xfrm>
        </p:spPr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E739958-279E-4E75-8EDF-226D3AC1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55" b="26468"/>
          <a:stretch/>
        </p:blipFill>
        <p:spPr>
          <a:xfrm>
            <a:off x="1318992" y="2800917"/>
            <a:ext cx="10868526" cy="190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ECEF4F-DEE3-AACE-E5AE-11A605BC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 dirty="0"/>
              <a:t>2026/9/22</a:t>
            </a:r>
            <a:endParaRPr lang="zh-TW" altLang="en-US" noProof="0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6D1AA23-3199-A15D-1228-6B9B2A8F44C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838200" y="330636"/>
            <a:ext cx="11031071" cy="6208276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31C53-29F9-3365-9C9F-1C0B8764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688636-A52A-7345-C362-70B1369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6396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57C8A87F-C1D1-ACCA-34BC-5EA337D1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 </a:t>
            </a:r>
            <a:r>
              <a:rPr lang="en-US" altLang="zh-TW" dirty="0"/>
              <a:t>Label Noise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2284115-E2EE-EAAE-3308-4F6DD24B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 dirty="0"/>
              <a:t>2026/9/22</a:t>
            </a:r>
            <a:endParaRPr lang="zh-TW" altLang="en-US" noProof="0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E79C6A97-31D7-6934-2D4A-0732FD29212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838200" y="347289"/>
            <a:ext cx="11001482" cy="6191623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5AAE8-697B-5BC3-4678-28ED624A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25832B-A8DD-B964-6701-FF510DF5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4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19925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ECEF4F-DEE3-AACE-E5AE-11A605BC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 dirty="0"/>
              <a:t>2026/9/28</a:t>
            </a:r>
            <a:endParaRPr lang="zh-TW" altLang="en-US" noProof="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31C53-29F9-3365-9C9F-1C0B8764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688636-A52A-7345-C362-70B1369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5</a:t>
            </a:fld>
            <a:endParaRPr lang="zh-TW" altLang="en-US" noProof="0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EFA32E6A-86E7-39DE-115C-2AC5785901A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780077" y="192010"/>
            <a:ext cx="9246511" cy="6164340"/>
          </a:xfrm>
        </p:spPr>
      </p:pic>
    </p:spTree>
    <p:extLst>
      <p:ext uri="{BB962C8B-B14F-4D97-AF65-F5344CB8AC3E}">
        <p14:creationId xmlns:p14="http://schemas.microsoft.com/office/powerpoint/2010/main" val="273906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602489-09D9-D3D5-B20C-D31656BA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C82E11-4E26-625C-5515-8DB59D41D9F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4892" y="1747177"/>
            <a:ext cx="2230332" cy="616235"/>
          </a:xfrm>
        </p:spPr>
        <p:txBody>
          <a:bodyPr/>
          <a:lstStyle/>
          <a:p>
            <a:r>
              <a:rPr lang="zh-TW" altLang="en-US" sz="2400" dirty="0"/>
              <a:t>課堂活動</a:t>
            </a:r>
            <a:r>
              <a:rPr lang="en-US" altLang="zh-TW" sz="2400" dirty="0"/>
              <a:t>#1</a:t>
            </a:r>
            <a:endParaRPr lang="zh-TW" altLang="en-US" sz="24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2AB973-8307-5A3B-D862-1338FF42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21B9B-83B5-A7DA-FC92-99296EA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6</a:t>
            </a:fld>
            <a:endParaRPr lang="zh-TW" altLang="en-US" noProof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133BB93-97C8-23AB-AD22-86F4401D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92" y="836149"/>
            <a:ext cx="9495452" cy="469476"/>
          </a:xfrm>
        </p:spPr>
        <p:txBody>
          <a:bodyPr/>
          <a:lstStyle/>
          <a:p>
            <a:r>
              <a:rPr lang="en-US" altLang="zh-TW" sz="2800" dirty="0" err="1"/>
              <a:t>max_depth</a:t>
            </a:r>
            <a:r>
              <a:rPr lang="zh-TW" altLang="en-US" sz="2800" dirty="0"/>
              <a:t> 與 </a:t>
            </a:r>
            <a:r>
              <a:rPr lang="en-US" altLang="zh-TW" sz="2800" dirty="0"/>
              <a:t>Training /Testing Data</a:t>
            </a:r>
            <a:r>
              <a:rPr lang="zh-TW" altLang="en-US" sz="2800" dirty="0"/>
              <a:t>之關聯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9A04114-2C3F-F0C6-D799-D8DDFBC65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4559"/>
              </p:ext>
            </p:extLst>
          </p:nvPr>
        </p:nvGraphicFramePr>
        <p:xfrm>
          <a:off x="1111624" y="2464932"/>
          <a:ext cx="5338337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110">
                  <a:extLst>
                    <a:ext uri="{9D8B030D-6E8A-4147-A177-3AD203B41FA5}">
                      <a16:colId xmlns:a16="http://schemas.microsoft.com/office/drawing/2014/main" val="1538856200"/>
                    </a:ext>
                  </a:extLst>
                </a:gridCol>
                <a:gridCol w="1986037">
                  <a:extLst>
                    <a:ext uri="{9D8B030D-6E8A-4147-A177-3AD203B41FA5}">
                      <a16:colId xmlns:a16="http://schemas.microsoft.com/office/drawing/2014/main" val="1075994142"/>
                    </a:ext>
                  </a:extLst>
                </a:gridCol>
                <a:gridCol w="1810190">
                  <a:extLst>
                    <a:ext uri="{9D8B030D-6E8A-4147-A177-3AD203B41FA5}">
                      <a16:colId xmlns:a16="http://schemas.microsoft.com/office/drawing/2014/main" val="3609419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/>
                        <a:t>max_depth</a:t>
                      </a:r>
                      <a:r>
                        <a:rPr lang="en-US" altLang="zh-TW" b="1" dirty="0"/>
                        <a:t>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Training Accuracy</a:t>
                      </a:r>
                    </a:p>
                    <a:p>
                      <a:pPr algn="ctr"/>
                      <a:r>
                        <a:rPr lang="en-US" altLang="zh-TW" b="1" dirty="0"/>
                        <a:t>(%)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/>
                        <a:t>Testing Accuracy</a:t>
                      </a:r>
                    </a:p>
                    <a:p>
                      <a:pPr algn="ctr"/>
                      <a:r>
                        <a:rPr lang="en-US" altLang="zh-TW" b="1" dirty="0"/>
                        <a:t>(%)</a:t>
                      </a:r>
                      <a:endParaRPr lang="zh-TW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67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8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5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44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10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None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14349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D9ABE946-058D-0DF6-8A80-54EDCF24AF72}"/>
              </a:ext>
            </a:extLst>
          </p:cNvPr>
          <p:cNvSpPr txBox="1"/>
          <p:nvPr/>
        </p:nvSpPr>
        <p:spPr>
          <a:xfrm>
            <a:off x="1111624" y="5705892"/>
            <a:ext cx="53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0" dirty="0" err="1">
                <a:effectLst/>
                <a:latin typeface="Courier New" panose="02070309020205020404" pitchFamily="49" charset="0"/>
              </a:rPr>
              <a:t>noise_coefficient</a:t>
            </a:r>
            <a:r>
              <a:rPr lang="en-US" altLang="zh-TW" b="0" dirty="0">
                <a:effectLst/>
                <a:latin typeface="Courier New" panose="02070309020205020404" pitchFamily="49" charset="0"/>
              </a:rPr>
              <a:t> = 0.5</a:t>
            </a:r>
          </a:p>
          <a:p>
            <a:pPr algn="ctr"/>
            <a:r>
              <a:rPr lang="en-US" altLang="zh-TW" b="0" dirty="0">
                <a:effectLst/>
                <a:latin typeface="Courier New" panose="02070309020205020404" pitchFamily="49" charset="0"/>
              </a:rPr>
              <a:t>Training Data : Testing Data = 3: 1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438F6F3-CD13-7C37-96A9-30625CD20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01289"/>
              </p:ext>
            </p:extLst>
          </p:nvPr>
        </p:nvGraphicFramePr>
        <p:xfrm>
          <a:off x="6760276" y="2460018"/>
          <a:ext cx="5338337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110">
                  <a:extLst>
                    <a:ext uri="{9D8B030D-6E8A-4147-A177-3AD203B41FA5}">
                      <a16:colId xmlns:a16="http://schemas.microsoft.com/office/drawing/2014/main" val="1538856200"/>
                    </a:ext>
                  </a:extLst>
                </a:gridCol>
                <a:gridCol w="1986037">
                  <a:extLst>
                    <a:ext uri="{9D8B030D-6E8A-4147-A177-3AD203B41FA5}">
                      <a16:colId xmlns:a16="http://schemas.microsoft.com/office/drawing/2014/main" val="1075994142"/>
                    </a:ext>
                  </a:extLst>
                </a:gridCol>
                <a:gridCol w="1810190">
                  <a:extLst>
                    <a:ext uri="{9D8B030D-6E8A-4147-A177-3AD203B41FA5}">
                      <a16:colId xmlns:a16="http://schemas.microsoft.com/office/drawing/2014/main" val="3609419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/>
                        <a:t>max_depth</a:t>
                      </a:r>
                      <a:r>
                        <a:rPr lang="en-US" altLang="zh-TW" b="1" dirty="0"/>
                        <a:t>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Training Accuracy</a:t>
                      </a:r>
                    </a:p>
                    <a:p>
                      <a:pPr algn="ctr"/>
                      <a:r>
                        <a:rPr lang="en-US" altLang="zh-TW" b="1" dirty="0"/>
                        <a:t>(%)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/>
                        <a:t>Testing Accuracy</a:t>
                      </a:r>
                    </a:p>
                    <a:p>
                      <a:pPr algn="ctr"/>
                      <a:r>
                        <a:rPr lang="en-US" altLang="zh-TW" b="1" dirty="0"/>
                        <a:t>(%)</a:t>
                      </a:r>
                      <a:endParaRPr lang="zh-TW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67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8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5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44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10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None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1434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A9575D-1A92-3ACC-E43A-F64A54BAE122}"/>
              </a:ext>
            </a:extLst>
          </p:cNvPr>
          <p:cNvSpPr txBox="1"/>
          <p:nvPr/>
        </p:nvSpPr>
        <p:spPr>
          <a:xfrm>
            <a:off x="6760276" y="5700978"/>
            <a:ext cx="53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0" dirty="0" err="1">
                <a:effectLst/>
                <a:latin typeface="Courier New" panose="02070309020205020404" pitchFamily="49" charset="0"/>
              </a:rPr>
              <a:t>noise_coefficient</a:t>
            </a:r>
            <a:r>
              <a:rPr lang="en-US" altLang="zh-TW" b="0" dirty="0">
                <a:effectLst/>
                <a:latin typeface="Courier New" panose="02070309020205020404" pitchFamily="49" charset="0"/>
              </a:rPr>
              <a:t> = 1</a:t>
            </a:r>
          </a:p>
          <a:p>
            <a:pPr algn="ctr"/>
            <a:r>
              <a:rPr lang="en-US" altLang="zh-TW" b="0" dirty="0">
                <a:effectLst/>
                <a:latin typeface="Courier New" panose="02070309020205020404" pitchFamily="49" charset="0"/>
              </a:rPr>
              <a:t>Training Data : Testing Data = 3: 1</a:t>
            </a:r>
          </a:p>
        </p:txBody>
      </p:sp>
    </p:spTree>
    <p:extLst>
      <p:ext uri="{BB962C8B-B14F-4D97-AF65-F5344CB8AC3E}">
        <p14:creationId xmlns:p14="http://schemas.microsoft.com/office/powerpoint/2010/main" val="2019335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A6EEDB-0F08-1DA2-E9CC-2D912838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 dirty="0"/>
              <a:t>2026/9/29</a:t>
            </a:r>
            <a:endParaRPr lang="zh-TW" altLang="en-US" noProof="0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9DB4A0-5485-6DE9-F792-3F9B9EEAC86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815187" y="200108"/>
            <a:ext cx="8695157" cy="6521367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0D81C-C0D0-920B-0FC7-327C2C07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71E090-DBB8-80FE-E41B-5C4261D3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7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3717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602489-09D9-D3D5-B20C-D31656BA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C82E11-4E26-625C-5515-8DB59D41D9F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4892" y="1747177"/>
            <a:ext cx="2230332" cy="616235"/>
          </a:xfrm>
        </p:spPr>
        <p:txBody>
          <a:bodyPr/>
          <a:lstStyle/>
          <a:p>
            <a:r>
              <a:rPr lang="zh-TW" altLang="en-US" sz="2400" dirty="0"/>
              <a:t>課堂活動</a:t>
            </a:r>
            <a:r>
              <a:rPr lang="en-US" altLang="zh-TW" sz="2400" dirty="0"/>
              <a:t>#2</a:t>
            </a:r>
            <a:endParaRPr lang="zh-TW" altLang="en-US" sz="24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2AB973-8307-5A3B-D862-1338FF42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21B9B-83B5-A7DA-FC92-99296EA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133BB93-97C8-23AB-AD22-86F4401D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92" y="836149"/>
            <a:ext cx="6623037" cy="469476"/>
          </a:xfrm>
        </p:spPr>
        <p:txBody>
          <a:bodyPr/>
          <a:lstStyle/>
          <a:p>
            <a:r>
              <a:rPr lang="en-US" altLang="zh-TW" sz="2800" dirty="0"/>
              <a:t>Decision Tree vs. Random Forest </a:t>
            </a:r>
            <a:endParaRPr lang="zh-TW" altLang="en-US" sz="28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9A04114-2C3F-F0C6-D799-D8DDFBC65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9109"/>
              </p:ext>
            </p:extLst>
          </p:nvPr>
        </p:nvGraphicFramePr>
        <p:xfrm>
          <a:off x="949510" y="3011153"/>
          <a:ext cx="4743078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155">
                  <a:extLst>
                    <a:ext uri="{9D8B030D-6E8A-4147-A177-3AD203B41FA5}">
                      <a16:colId xmlns:a16="http://schemas.microsoft.com/office/drawing/2014/main" val="1538856200"/>
                    </a:ext>
                  </a:extLst>
                </a:gridCol>
                <a:gridCol w="1764581">
                  <a:extLst>
                    <a:ext uri="{9D8B030D-6E8A-4147-A177-3AD203B41FA5}">
                      <a16:colId xmlns:a16="http://schemas.microsoft.com/office/drawing/2014/main" val="1075994142"/>
                    </a:ext>
                  </a:extLst>
                </a:gridCol>
                <a:gridCol w="1608342">
                  <a:extLst>
                    <a:ext uri="{9D8B030D-6E8A-4147-A177-3AD203B41FA5}">
                      <a16:colId xmlns:a16="http://schemas.microsoft.com/office/drawing/2014/main" val="3609419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Noise Coefficient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+mn-lt"/>
                        </a:rPr>
                        <a:t>Decision Tree </a:t>
                      </a:r>
                      <a:r>
                        <a:rPr lang="en-US" altLang="zh-TW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  <a:p>
                      <a:pPr algn="ctr"/>
                      <a:r>
                        <a:rPr lang="en-US" altLang="zh-TW" b="0" dirty="0"/>
                        <a:t>(%)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+mn-lt"/>
                        </a:rPr>
                        <a:t>Decision Tree 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  <a:p>
                      <a:pPr algn="ctr"/>
                      <a:r>
                        <a:rPr lang="en-US" altLang="zh-TW" b="0" dirty="0"/>
                        <a:t>(%)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7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8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0.5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5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44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1434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9CCFD017-8957-CC13-E53E-4B03C79B3AA1}"/>
              </a:ext>
            </a:extLst>
          </p:cNvPr>
          <p:cNvSpPr txBox="1"/>
          <p:nvPr/>
        </p:nvSpPr>
        <p:spPr>
          <a:xfrm>
            <a:off x="2363321" y="2516702"/>
            <a:ext cx="1763806" cy="341161"/>
          </a:xfrm>
          <a:prstGeom prst="rect">
            <a:avLst/>
          </a:prstGeom>
        </p:spPr>
        <p:txBody>
          <a:bodyPr rtlCol="0"/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en-US" altLang="zh-TW" sz="2000" b="1" dirty="0"/>
              <a:t>Data Noise</a:t>
            </a:r>
            <a:endParaRPr lang="zh-TW" altLang="en-US" sz="2000" b="1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4F2DD56-EFAB-37D0-A1AE-D6B1A721C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59406"/>
              </p:ext>
            </p:extLst>
          </p:nvPr>
        </p:nvGraphicFramePr>
        <p:xfrm>
          <a:off x="6610721" y="3011153"/>
          <a:ext cx="4743078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155">
                  <a:extLst>
                    <a:ext uri="{9D8B030D-6E8A-4147-A177-3AD203B41FA5}">
                      <a16:colId xmlns:a16="http://schemas.microsoft.com/office/drawing/2014/main" val="1538856200"/>
                    </a:ext>
                  </a:extLst>
                </a:gridCol>
                <a:gridCol w="1764581">
                  <a:extLst>
                    <a:ext uri="{9D8B030D-6E8A-4147-A177-3AD203B41FA5}">
                      <a16:colId xmlns:a16="http://schemas.microsoft.com/office/drawing/2014/main" val="1075994142"/>
                    </a:ext>
                  </a:extLst>
                </a:gridCol>
                <a:gridCol w="1608342">
                  <a:extLst>
                    <a:ext uri="{9D8B030D-6E8A-4147-A177-3AD203B41FA5}">
                      <a16:colId xmlns:a16="http://schemas.microsoft.com/office/drawing/2014/main" val="3609419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Noise Coefficient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+mn-lt"/>
                        </a:rPr>
                        <a:t>Decision Tree </a:t>
                      </a:r>
                      <a:r>
                        <a:rPr lang="en-US" altLang="zh-TW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  <a:p>
                      <a:pPr algn="ctr"/>
                      <a:r>
                        <a:rPr lang="en-US" altLang="zh-TW" b="0" dirty="0"/>
                        <a:t>(%)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+mn-lt"/>
                        </a:rPr>
                        <a:t>Decision Tree 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  <a:p>
                      <a:pPr algn="ctr"/>
                      <a:r>
                        <a:rPr lang="en-US" altLang="zh-TW" b="0" dirty="0"/>
                        <a:t>(%)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7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8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0.5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5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44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1434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DFE20A-5CC5-F909-7474-D38854B00C35}"/>
              </a:ext>
            </a:extLst>
          </p:cNvPr>
          <p:cNvSpPr txBox="1"/>
          <p:nvPr/>
        </p:nvSpPr>
        <p:spPr>
          <a:xfrm>
            <a:off x="8024532" y="2516702"/>
            <a:ext cx="1763806" cy="341161"/>
          </a:xfrm>
          <a:prstGeom prst="rect">
            <a:avLst/>
          </a:prstGeom>
        </p:spPr>
        <p:txBody>
          <a:bodyPr rtlCol="0"/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TW" sz="2000" b="1" dirty="0"/>
              <a:t>Label Noise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6966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602489-09D9-D3D5-B20C-D31656BA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 dirty="0"/>
              <a:t>2026/9/29</a:t>
            </a:r>
            <a:endParaRPr lang="zh-TW" altLang="en-US" noProof="0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110DA31E-A706-7622-6D68-D3DE173A408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852488" y="173645"/>
            <a:ext cx="8657856" cy="6493392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2AB973-8307-5A3B-D862-1338FF42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21B9B-83B5-A7DA-FC92-99296EA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9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6463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602489-09D9-D3D5-B20C-D31656BA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C82E11-4E26-625C-5515-8DB59D41D9F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4892" y="1747177"/>
            <a:ext cx="2230332" cy="616235"/>
          </a:xfrm>
        </p:spPr>
        <p:txBody>
          <a:bodyPr/>
          <a:lstStyle/>
          <a:p>
            <a:r>
              <a:rPr lang="zh-TW" altLang="en-US" sz="2400" dirty="0"/>
              <a:t>課堂活動</a:t>
            </a:r>
            <a:r>
              <a:rPr lang="en-US" altLang="zh-TW" sz="2400" dirty="0"/>
              <a:t>#3</a:t>
            </a:r>
            <a:endParaRPr lang="zh-TW" altLang="en-US" sz="24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2AB973-8307-5A3B-D862-1338FF42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21B9B-83B5-A7DA-FC92-99296EA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10</a:t>
            </a:fld>
            <a:endParaRPr lang="zh-TW" altLang="en-US" noProof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133BB93-97C8-23AB-AD22-86F4401D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92" y="836149"/>
            <a:ext cx="6623037" cy="469476"/>
          </a:xfrm>
        </p:spPr>
        <p:txBody>
          <a:bodyPr/>
          <a:lstStyle/>
          <a:p>
            <a:r>
              <a:rPr lang="zh-TW" altLang="en-US" sz="2800" dirty="0"/>
              <a:t>單一門檻規則</a:t>
            </a:r>
            <a:r>
              <a:rPr lang="en-US" altLang="zh-TW" sz="2800" dirty="0"/>
              <a:t> vs. </a:t>
            </a:r>
            <a:r>
              <a:rPr lang="zh-TW" altLang="en-US" sz="2800" dirty="0"/>
              <a:t>風險分數規則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9A04114-2C3F-F0C6-D799-D8DDFBC65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294771"/>
              </p:ext>
            </p:extLst>
          </p:nvPr>
        </p:nvGraphicFramePr>
        <p:xfrm>
          <a:off x="2866800" y="2433442"/>
          <a:ext cx="6805341" cy="3426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890">
                  <a:extLst>
                    <a:ext uri="{9D8B030D-6E8A-4147-A177-3AD203B41FA5}">
                      <a16:colId xmlns:a16="http://schemas.microsoft.com/office/drawing/2014/main" val="1538856200"/>
                    </a:ext>
                  </a:extLst>
                </a:gridCol>
                <a:gridCol w="2531811">
                  <a:extLst>
                    <a:ext uri="{9D8B030D-6E8A-4147-A177-3AD203B41FA5}">
                      <a16:colId xmlns:a16="http://schemas.microsoft.com/office/drawing/2014/main" val="1075994142"/>
                    </a:ext>
                  </a:extLst>
                </a:gridCol>
                <a:gridCol w="2307640">
                  <a:extLst>
                    <a:ext uri="{9D8B030D-6E8A-4147-A177-3AD203B41FA5}">
                      <a16:colId xmlns:a16="http://schemas.microsoft.com/office/drawing/2014/main" val="3609419898"/>
                    </a:ext>
                  </a:extLst>
                </a:gridCol>
              </a:tblGrid>
              <a:tr h="76551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Noise Coefficient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latin typeface="+mn-lt"/>
                        </a:rPr>
                        <a:t>單一門檻規則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latin typeface="+mn-lt"/>
                        </a:rPr>
                        <a:t>風險分數規則</a:t>
                      </a:r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678669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83418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0.5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7212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56147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448788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89022"/>
                  </a:ext>
                </a:extLst>
              </a:tr>
              <a:tr h="44351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1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18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9945386_TF78544816_Win32" id="{9E63F1E3-28E5-483A-B659-61289534B460}" vid="{AD1DE065-60B4-4853-9CC3-BCBE3EC4F98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新式會議簡報</Template>
  <TotalTime>444</TotalTime>
  <Words>450</Words>
  <Application>Microsoft Office PowerPoint</Application>
  <PresentationFormat>寬螢幕</PresentationFormat>
  <Paragraphs>138</Paragraphs>
  <Slides>10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 UI</vt:lpstr>
      <vt:lpstr>Microsoft JhengHei UI Light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加入 Label Noise</vt:lpstr>
      <vt:lpstr>PowerPoint 簡報</vt:lpstr>
      <vt:lpstr>max_depth 與 Training /Testing Data之關聯</vt:lpstr>
      <vt:lpstr>PowerPoint 簡報</vt:lpstr>
      <vt:lpstr>Decision Tree vs. Random Forest </vt:lpstr>
      <vt:lpstr>PowerPoint 簡報</vt:lpstr>
      <vt:lpstr>單一門檻規則 vs. 風險分數規則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KAI-HSIANG CHUANG</dc:creator>
  <cp:lastModifiedBy>KAI-HSIANG CHUANG</cp:lastModifiedBy>
  <cp:revision>10</cp:revision>
  <dcterms:created xsi:type="dcterms:W3CDTF">2026-08-19T04:14:59Z</dcterms:created>
  <dcterms:modified xsi:type="dcterms:W3CDTF">2026-09-29T04:33:34Z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